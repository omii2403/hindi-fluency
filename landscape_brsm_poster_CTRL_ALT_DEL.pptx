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Arial Bold" charset="1" panose="020B0704020202020204"/>
      <p:regular r:id="rId7"/>
    </p:embeddedFont>
    <p:embeddedFont>
      <p:font typeface="Verdana Bold" charset="1" panose="020B0804030504040204"/>
      <p:regular r:id="rId8"/>
    </p:embeddedFont>
    <p:embeddedFont>
      <p:font typeface="Calibri (MS)" charset="1" panose="020F0502020204030204"/>
      <p:regular r:id="rId9"/>
    </p:embeddedFont>
    <p:embeddedFont>
      <p:font typeface="Verdana" charset="1" panose="020B0604030504040204"/>
      <p:regular r:id="rId10"/>
    </p:embeddedFont>
    <p:embeddedFont>
      <p:font typeface="Arial Italics" charset="1" panose="020B060402020209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3400" cy="7556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3400" cy="74980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4864"/>
            <a:ext cx="6858000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Hindi Verbal Fluency and Semantic Search: VFT + SpAM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84048"/>
            <a:ext cx="8046720" cy="25603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00" b="0">
                <a:solidFill>
                  <a:srgbClr val="E0EBFF"/>
                </a:solidFill>
                <a:latin typeface="Calibri"/>
              </a:rPr>
              <a:t>Team CTRL+ALT+DEL | Akshat Kotadia (2025201005), Ankit Chavda (2025201045), Om Mehra (2025201008)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28016"/>
            <a:ext cx="2194560" cy="43891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r"/>
            <a:r>
              <a:rPr sz="1200" b="1">
                <a:solidFill>
                  <a:srgbClr val="DCECFF"/>
                </a:solidFill>
                <a:latin typeface="Calibri"/>
              </a:rPr>
              <a:t>BRSM 2026 Poster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841248"/>
            <a:ext cx="3401568" cy="2103120"/>
          </a:xfrm>
          <a:prstGeom prst="roundRect">
            <a:avLst/>
          </a:prstGeom>
          <a:solidFill>
            <a:srgbClr val="ECF3FF"/>
          </a:solidFill>
          <a:ln w="10160">
            <a:solidFill>
              <a:srgbClr val="96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9312" y="841248"/>
            <a:ext cx="3401568" cy="2103120"/>
          </a:xfrm>
          <a:prstGeom prst="roundRect">
            <a:avLst/>
          </a:prstGeom>
          <a:solidFill>
            <a:srgbClr val="F0F9F2"/>
          </a:solidFill>
          <a:ln w="10160">
            <a:solidFill>
              <a:srgbClr val="9C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95744" y="841248"/>
            <a:ext cx="3401568" cy="2103120"/>
          </a:xfrm>
          <a:prstGeom prst="roundRect">
            <a:avLst/>
          </a:prstGeom>
          <a:solidFill>
            <a:srgbClr val="FFF6EB"/>
          </a:solidFill>
          <a:ln w="10160">
            <a:solidFill>
              <a:srgbClr val="D2B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914400"/>
            <a:ext cx="31089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103863"/>
                </a:solidFill>
                <a:latin typeface="Calibri"/>
              </a:rPr>
              <a:t>Introduction +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3246120" cy="17190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80" b="0">
                <a:solidFill>
                  <a:srgbClr val="222C3F"/>
                </a:solidFill>
                <a:latin typeface="Calibri"/>
              </a:rPr>
              <a:t>Study setup:</a:t>
            </a:r>
            <a:br/>
            <a:r>
              <a:t>- 35 Hindi-English bilingual participants</a:t>
            </a:r>
            <a:br/>
            <a:r>
              <a:t>- VFT: 60 sec word generation in 4 domains</a:t>
            </a:r>
            <a:br/>
            <a:r>
              <a:t>- SpAM: 2D arrangement by similarity</a:t>
            </a:r>
            <a:br/>
            <a:r>
              <a:t>- Exit poll: self-rated Hindi confidence</a:t>
            </a:r>
            <a:br/>
            <a:br/>
            <a:r>
              <a:t>Dataset used in analysis:</a:t>
            </a:r>
            <a:br/>
            <a:r>
              <a:t>- 723 Hindi/Hinglish responses (from merged dataset)</a:t>
            </a:r>
            <a:br/>
            <a:r>
              <a:t>- Colours domain has very low coverage (n=4), so we keep it mainly descriptive</a:t>
            </a:r>
            <a:br/>
            <a:br/>
            <a:r>
              <a:t>Prior literature we followed:</a:t>
            </a:r>
            <a:br/>
            <a:r>
              <a:t>- Troyer et al.: semantic cluster and switching cost</a:t>
            </a:r>
            <a:br/>
            <a:r>
              <a:t>- Dautriche et al.: word-form similarity can affect search</a:t>
            </a:r>
            <a:br/>
            <a:r>
              <a:t>- Kumar et al.: possible semantic-to-phonological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914400"/>
            <a:ext cx="31089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156130"/>
                </a:solidFill>
                <a:latin typeface="Calibri"/>
              </a:rPr>
              <a:t>Methodology (Notebook Pipeline)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1143000"/>
            <a:ext cx="3246120" cy="17190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69" b="0">
                <a:solidFill>
                  <a:srgbClr val="1C3D23"/>
                </a:solidFill>
                <a:latin typeface="Calibri"/>
              </a:rPr>
              <a:t>1. Merge VFT + SpAM + survey data; keep Hindi/Hinglish rows.</a:t>
            </a:r>
            <a:br/>
            <a:r>
              <a:t>2. Compute word counts, IRT, cluster size, switch count, spatial compactness.</a:t>
            </a:r>
            <a:br/>
            <a:r>
              <a:t>3. Normality check (Shapiro-Wilk), then choose proper inferential tests.</a:t>
            </a:r>
            <a:br/>
            <a:r>
              <a:t>4. H1: Welch t-test for within vs between cluster IRT.</a:t>
            </a:r>
            <a:br/>
            <a:r>
              <a:t>5. H2/H11: mixed-effects models over retrieval position.</a:t>
            </a:r>
            <a:br/>
            <a:r>
              <a:t>6. H3/H4/H8: Kruskal-Wallis across domains.</a:t>
            </a:r>
            <a:br/>
            <a:r>
              <a:t>7. H5-H7 and H12: Spearman one-tailed tests.</a:t>
            </a:r>
            <a:br/>
            <a:r>
              <a:t>8. H9/H10: ARI with sign test and permutation checks.</a:t>
            </a:r>
            <a:br/>
            <a:r>
              <a:t>9. H13: Steiger test for dependent correlations.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914400"/>
            <a:ext cx="3108960" cy="20116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7E3F00"/>
                </a:solidFill>
                <a:latin typeface="Calibri"/>
              </a:rPr>
              <a:t>Models and Similarity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1143000"/>
            <a:ext cx="3246120" cy="171907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60" b="0">
                <a:solidFill>
                  <a:srgbClr val="4D3110"/>
                </a:solidFill>
                <a:latin typeface="Calibri"/>
              </a:rPr>
              <a:t>Transformer used:</a:t>
            </a:r>
            <a:br/>
            <a:r>
              <a:t>- sentence-transformers/paraphrase-multilingual-MiniLM-L12-v2</a:t>
            </a:r>
            <a:br/>
            <a:r>
              <a:t>- 384-d vectors for Hindi + Hinglish words</a:t>
            </a:r>
            <a:br/>
            <a:br/>
            <a:r>
              <a:t>Purpose:</a:t>
            </a:r>
            <a:br/>
            <a:r>
              <a:t>- semantic similarity space for clustering and ARI alignment</a:t>
            </a:r>
            <a:br/>
            <a:r>
              <a:t>- phonetic-key space (consonant-skeleton representation) for sound similarity checks</a:t>
            </a:r>
            <a:br/>
            <a:br/>
            <a:r>
              <a:t>Extra modelling:</a:t>
            </a:r>
            <a:br/>
            <a:r>
              <a:t>- FastText geometry in extended neighbourhood analysis</a:t>
            </a:r>
            <a:br/>
            <a:r>
              <a:t>- ARI/NMI for semantic and phonetic cluster agreement</a:t>
            </a:r>
            <a:br/>
            <a:br/>
            <a:r>
              <a:t>Simple take: semantic signal is present; phonetic signal is weak in this sample.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2971800"/>
            <a:ext cx="9144000" cy="18288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100" b="1">
                <a:solidFill>
                  <a:srgbClr val="162A44"/>
                </a:solidFill>
                <a:latin typeface="Calibri"/>
              </a:rPr>
              <a:t>Results Table: All RQ, Hypotheses, Tests and Outcomes (from notebook outputs)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82880" y="3163824"/>
          <a:ext cx="10323576" cy="2414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66928"/>
                <a:gridCol w="1783080"/>
                <a:gridCol w="5715000"/>
                <a:gridCol w="1618488"/>
              </a:tblGrid>
              <a:tr h="172429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E46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Hyp</a:t>
                      </a:r>
                    </a:p>
                  </a:txBody>
                  <a:tcPr>
                    <a:solidFill>
                      <a:srgbClr val="1E46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E46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E46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>
                    <a:solidFill>
                      <a:srgbClr val="1E4678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Found.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H1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Welch t (one-tailed)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Within 5841.9 vs between 10960.3 ms; t=9.2995, p&lt;0.0001, d=1.1206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Supported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Found.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MixedLM rt~position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Animals/Foods/Body slopes negative; colours +364.4 (p=0.0549); 0/4 domains pass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H3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Kruskal-Wallis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Word count across animals, foods, body-parts: H=3.2639, p=0.1956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Kruskal-Wallis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IRT across animals, foods, body-parts: H=3.9028, p=0.1421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H5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Spearman one-tailed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Confidence vs total words: rho=-0.3951, p(one)=0.9906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Spearman one-tailed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Confidence vs mean IRT: rho=+0.2755, p(one)=0.9454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H7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Spearman one-tailed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Confidence vs cluster size: rho=-0.2259, p(one)=0.8969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Kruskal-Wallis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SpAM compactness: H=3.4451, p=0.3280 (all domains); sensitivity p=0.1906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RQ4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H9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ARI sign + permutation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Semantic alignment: N=86, positives=68, sign p&lt;0.0001, mean ARI=0.1765, perm p=0.5022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Mixed / weak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H10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ARI sign + permutation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Phonetic alignment: N=86, positives=52, sign p=0.0662, mean ARI=0.0745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RQ6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H11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LME similarity~type*pos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Interaction beta=-0.004144, p=0.1028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/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H12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Spearman one-tailed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Mean phonological similarity vs productivity: rho=+0.114, p=0.2570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Not supported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172429"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RQ5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ctr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H13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Steiger Z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VFT rho=-0.461 (p=0.0053) vs Integrated rho=-0.323 (p=0.0586); z=0.724, p=0.4689</a:t>
                      </a:r>
                    </a:p>
                  </a:txBody>
                  <a:tcPr/>
                </a:tc>
                <a:tc>
                  <a:txBody>
                    <a:bodyPr wrap="square" lIns="25400" rIns="25400" tIns="12700" bIns="12700"/>
                    <a:lstStyle/>
                    <a:p>
                      <a:pPr algn="l"/>
                      <a:r>
                        <a:rPr sz="700">
                          <a:solidFill>
                            <a:srgbClr val="1C2128"/>
                          </a:solidFill>
                          <a:latin typeface="Calibri"/>
                        </a:rPr>
                        <a:t>No difference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82880" y="5596128"/>
            <a:ext cx="594360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050" b="1">
                <a:solidFill>
                  <a:srgbClr val="162A44"/>
                </a:solidFill>
                <a:latin typeface="Calibri"/>
              </a:rPr>
              <a:t>Key Figures Directly from Notebook Outputs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760720"/>
            <a:ext cx="1993392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g_moduleA_h1_clust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5779007"/>
            <a:ext cx="1956816" cy="12710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" y="7086599"/>
            <a:ext cx="1993392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10" b="0">
                <a:solidFill>
                  <a:srgbClr val="1E2837"/>
                </a:solidFill>
                <a:latin typeface="Calibri"/>
              </a:rPr>
              <a:t>H1: Between-cluster IRT much higher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8568" y="5760720"/>
            <a:ext cx="1993392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ig_moduleB_h3_produc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5779007"/>
            <a:ext cx="1956816" cy="12710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58568" y="7086599"/>
            <a:ext cx="1993392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10" b="0">
                <a:solidFill>
                  <a:srgbClr val="1E2837"/>
                </a:solidFill>
                <a:latin typeface="Calibri"/>
              </a:rPr>
              <a:t>H3: Productivity overlap by domain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5760720"/>
            <a:ext cx="1993392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_moduleD_h9_h10_align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544" y="5779007"/>
            <a:ext cx="1956816" cy="12710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334256" y="7086599"/>
            <a:ext cx="1993392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10" b="0">
                <a:solidFill>
                  <a:srgbClr val="1E2837"/>
                </a:solidFill>
                <a:latin typeface="Calibri"/>
              </a:rPr>
              <a:t>H9/H10: Semantic vs phonetic 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9944" y="5760720"/>
            <a:ext cx="1993392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aph_12_1_h11_dual_similar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5779007"/>
            <a:ext cx="1956816" cy="12710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9944" y="7086599"/>
            <a:ext cx="1993392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10" b="0">
                <a:solidFill>
                  <a:srgbClr val="1E2837"/>
                </a:solidFill>
                <a:latin typeface="Calibri"/>
              </a:rPr>
              <a:t>H11/H12: No phonological facilitation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85632" y="5760720"/>
            <a:ext cx="1993392" cy="1307592"/>
          </a:xfrm>
          <a:prstGeom prst="rect">
            <a:avLst/>
          </a:prstGeom>
          <a:solidFill>
            <a:srgbClr val="FFFFFF"/>
          </a:solidFill>
          <a:ln w="11430">
            <a:solidFill>
              <a:srgbClr val="B9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graph_13_1_composite_vs_vft_confide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19" y="5779007"/>
            <a:ext cx="1956816" cy="127101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85632" y="7086599"/>
            <a:ext cx="1993392" cy="219456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10" b="0">
                <a:solidFill>
                  <a:srgbClr val="1E2837"/>
                </a:solidFill>
                <a:latin typeface="Calibri"/>
              </a:rPr>
              <a:t>H13: No reliable score advantage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7315200"/>
            <a:ext cx="10287000" cy="164592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19" b="0">
                <a:solidFill>
                  <a:srgbClr val="424A55"/>
                </a:solidFill>
                <a:latin typeface="Calibri"/>
              </a:rPr>
              <a:t>Conclusion: Hindi fluency retrieval shows strong semantic clustering (H1), but most domain, confidence, and phonological hypotheses are not supported in this sample.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DAHHOHrR8sc</dc:identifier>
  <dcterms:modified xsi:type="dcterms:W3CDTF">2011-08-01T06:04:30Z</dcterms:modified>
  <cp:revision>1</cp:revision>
  <dc:title>A1_Landscape_R&amp;D_Showcase_2023_poster_Research_2.pptx</dc:title>
</cp:coreProperties>
</file>