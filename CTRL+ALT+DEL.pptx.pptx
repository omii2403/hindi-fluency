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Calibri (MS)" charset="1" panose="020F0502020204030204"/>
      <p:regular r:id="rId7"/>
    </p:embeddedFont>
    <p:embeddedFont>
      <p:font typeface="Calibri (MS) Bold" charset="1" panose="020F0702030404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222"/>
            <a:ext cx="10715406" cy="7574347"/>
            <a:chOff x="0" y="0"/>
            <a:chExt cx="14287208" cy="10099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731" y="6731"/>
              <a:ext cx="14273656" cy="10085578"/>
            </a:xfrm>
            <a:custGeom>
              <a:avLst/>
              <a:gdLst/>
              <a:ahLst/>
              <a:cxnLst/>
              <a:rect r="r" b="b" t="t" l="l"/>
              <a:pathLst>
                <a:path h="10085578" w="14273656">
                  <a:moveTo>
                    <a:pt x="0" y="0"/>
                  </a:moveTo>
                  <a:lnTo>
                    <a:pt x="14273656" y="0"/>
                  </a:lnTo>
                  <a:lnTo>
                    <a:pt x="14273656" y="10085578"/>
                  </a:lnTo>
                  <a:lnTo>
                    <a:pt x="0" y="10085578"/>
                  </a:lnTo>
                  <a:close/>
                </a:path>
              </a:pathLst>
            </a:custGeom>
            <a:solidFill>
              <a:srgbClr val="F6F9F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119" cy="10099040"/>
            </a:xfrm>
            <a:custGeom>
              <a:avLst/>
              <a:gdLst/>
              <a:ahLst/>
              <a:cxnLst/>
              <a:rect r="r" b="b" t="t" l="l"/>
              <a:pathLst>
                <a:path h="10099040" w="14287119">
                  <a:moveTo>
                    <a:pt x="6731" y="0"/>
                  </a:moveTo>
                  <a:lnTo>
                    <a:pt x="14280387" y="0"/>
                  </a:lnTo>
                  <a:cubicBezTo>
                    <a:pt x="14284071" y="0"/>
                    <a:pt x="14287119" y="3048"/>
                    <a:pt x="14287119" y="6731"/>
                  </a:cubicBezTo>
                  <a:lnTo>
                    <a:pt x="14287119" y="10092309"/>
                  </a:lnTo>
                  <a:cubicBezTo>
                    <a:pt x="14287119" y="10095992"/>
                    <a:pt x="14284071" y="10099040"/>
                    <a:pt x="14280387" y="10099040"/>
                  </a:cubicBezTo>
                  <a:lnTo>
                    <a:pt x="6731" y="10099040"/>
                  </a:lnTo>
                  <a:cubicBezTo>
                    <a:pt x="3048" y="10099040"/>
                    <a:pt x="0" y="10095992"/>
                    <a:pt x="0" y="1009230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092309"/>
                  </a:lnTo>
                  <a:lnTo>
                    <a:pt x="6731" y="10092309"/>
                  </a:lnTo>
                  <a:lnTo>
                    <a:pt x="6731" y="10085577"/>
                  </a:lnTo>
                  <a:lnTo>
                    <a:pt x="14280387" y="10085577"/>
                  </a:lnTo>
                  <a:lnTo>
                    <a:pt x="14280387" y="10092309"/>
                  </a:lnTo>
                  <a:lnTo>
                    <a:pt x="14273656" y="10092309"/>
                  </a:lnTo>
                  <a:lnTo>
                    <a:pt x="14273656" y="6731"/>
                  </a:lnTo>
                  <a:lnTo>
                    <a:pt x="14280387" y="6731"/>
                  </a:lnTo>
                  <a:lnTo>
                    <a:pt x="14280387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086" y="-5086"/>
            <a:ext cx="10715406" cy="730406"/>
            <a:chOff x="0" y="0"/>
            <a:chExt cx="14287208" cy="973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731" y="7343"/>
              <a:ext cx="14273656" cy="959174"/>
            </a:xfrm>
            <a:custGeom>
              <a:avLst/>
              <a:gdLst/>
              <a:ahLst/>
              <a:cxnLst/>
              <a:rect r="r" b="b" t="t" l="l"/>
              <a:pathLst>
                <a:path h="959174" w="14273656">
                  <a:moveTo>
                    <a:pt x="0" y="0"/>
                  </a:moveTo>
                  <a:lnTo>
                    <a:pt x="14273656" y="0"/>
                  </a:lnTo>
                  <a:lnTo>
                    <a:pt x="14273656" y="959174"/>
                  </a:lnTo>
                  <a:lnTo>
                    <a:pt x="0" y="959174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87119" cy="973860"/>
            </a:xfrm>
            <a:custGeom>
              <a:avLst/>
              <a:gdLst/>
              <a:ahLst/>
              <a:cxnLst/>
              <a:rect r="r" b="b" t="t" l="l"/>
              <a:pathLst>
                <a:path h="973860" w="14287119">
                  <a:moveTo>
                    <a:pt x="6731" y="0"/>
                  </a:moveTo>
                  <a:lnTo>
                    <a:pt x="14280387" y="0"/>
                  </a:lnTo>
                  <a:cubicBezTo>
                    <a:pt x="14284071" y="0"/>
                    <a:pt x="14287119" y="3325"/>
                    <a:pt x="14287119" y="7343"/>
                  </a:cubicBezTo>
                  <a:lnTo>
                    <a:pt x="14287119" y="966517"/>
                  </a:lnTo>
                  <a:cubicBezTo>
                    <a:pt x="14287119" y="970535"/>
                    <a:pt x="14284071" y="973860"/>
                    <a:pt x="14280387" y="973860"/>
                  </a:cubicBezTo>
                  <a:lnTo>
                    <a:pt x="6731" y="973860"/>
                  </a:lnTo>
                  <a:cubicBezTo>
                    <a:pt x="3048" y="973860"/>
                    <a:pt x="0" y="970535"/>
                    <a:pt x="0" y="966517"/>
                  </a:cubicBezTo>
                  <a:lnTo>
                    <a:pt x="0" y="7343"/>
                  </a:lnTo>
                  <a:cubicBezTo>
                    <a:pt x="0" y="3325"/>
                    <a:pt x="3048" y="0"/>
                    <a:pt x="6731" y="0"/>
                  </a:cubicBezTo>
                  <a:moveTo>
                    <a:pt x="6731" y="14825"/>
                  </a:moveTo>
                  <a:lnTo>
                    <a:pt x="6731" y="7343"/>
                  </a:lnTo>
                  <a:lnTo>
                    <a:pt x="13462" y="7343"/>
                  </a:lnTo>
                  <a:lnTo>
                    <a:pt x="13462" y="966517"/>
                  </a:lnTo>
                  <a:lnTo>
                    <a:pt x="6731" y="966517"/>
                  </a:lnTo>
                  <a:lnTo>
                    <a:pt x="6731" y="959174"/>
                  </a:lnTo>
                  <a:lnTo>
                    <a:pt x="14280387" y="959174"/>
                  </a:lnTo>
                  <a:lnTo>
                    <a:pt x="14280387" y="966517"/>
                  </a:lnTo>
                  <a:lnTo>
                    <a:pt x="14273656" y="966517"/>
                  </a:lnTo>
                  <a:lnTo>
                    <a:pt x="14273656" y="7343"/>
                  </a:lnTo>
                  <a:lnTo>
                    <a:pt x="14280387" y="7343"/>
                  </a:lnTo>
                  <a:lnTo>
                    <a:pt x="14280387" y="14686"/>
                  </a:lnTo>
                  <a:lnTo>
                    <a:pt x="6731" y="14686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44" y="782469"/>
            <a:ext cx="2918736" cy="1127724"/>
            <a:chOff x="0" y="0"/>
            <a:chExt cx="3885997" cy="1501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731" y="6834"/>
              <a:ext cx="3872497" cy="1487781"/>
            </a:xfrm>
            <a:custGeom>
              <a:avLst/>
              <a:gdLst/>
              <a:ahLst/>
              <a:cxnLst/>
              <a:rect r="r" b="b" t="t" l="l"/>
              <a:pathLst>
                <a:path h="1487781" w="3872497">
                  <a:moveTo>
                    <a:pt x="0" y="0"/>
                  </a:moveTo>
                  <a:lnTo>
                    <a:pt x="3872497" y="0"/>
                  </a:lnTo>
                  <a:lnTo>
                    <a:pt x="3872497" y="1487781"/>
                  </a:lnTo>
                  <a:lnTo>
                    <a:pt x="0" y="14877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85959" cy="1501449"/>
            </a:xfrm>
            <a:custGeom>
              <a:avLst/>
              <a:gdLst/>
              <a:ahLst/>
              <a:cxnLst/>
              <a:rect r="r" b="b" t="t" l="l"/>
              <a:pathLst>
                <a:path h="1501449" w="3885959">
                  <a:moveTo>
                    <a:pt x="6731" y="0"/>
                  </a:moveTo>
                  <a:lnTo>
                    <a:pt x="3879228" y="0"/>
                  </a:lnTo>
                  <a:cubicBezTo>
                    <a:pt x="3882911" y="0"/>
                    <a:pt x="3885959" y="3095"/>
                    <a:pt x="3885959" y="6834"/>
                  </a:cubicBezTo>
                  <a:lnTo>
                    <a:pt x="3885959" y="1494615"/>
                  </a:lnTo>
                  <a:cubicBezTo>
                    <a:pt x="3885959" y="1498354"/>
                    <a:pt x="3882911" y="1501449"/>
                    <a:pt x="3879228" y="1501449"/>
                  </a:cubicBezTo>
                  <a:lnTo>
                    <a:pt x="6731" y="1501449"/>
                  </a:lnTo>
                  <a:cubicBezTo>
                    <a:pt x="3048" y="1501449"/>
                    <a:pt x="0" y="1498354"/>
                    <a:pt x="0" y="1494615"/>
                  </a:cubicBezTo>
                  <a:lnTo>
                    <a:pt x="0" y="6834"/>
                  </a:lnTo>
                  <a:cubicBezTo>
                    <a:pt x="0" y="3095"/>
                    <a:pt x="3048" y="0"/>
                    <a:pt x="6731" y="0"/>
                  </a:cubicBezTo>
                  <a:moveTo>
                    <a:pt x="6731" y="13797"/>
                  </a:moveTo>
                  <a:lnTo>
                    <a:pt x="6731" y="6834"/>
                  </a:lnTo>
                  <a:lnTo>
                    <a:pt x="13462" y="6834"/>
                  </a:lnTo>
                  <a:lnTo>
                    <a:pt x="13462" y="1494615"/>
                  </a:lnTo>
                  <a:lnTo>
                    <a:pt x="6731" y="1494615"/>
                  </a:lnTo>
                  <a:lnTo>
                    <a:pt x="6731" y="1487781"/>
                  </a:lnTo>
                  <a:lnTo>
                    <a:pt x="3879228" y="1487781"/>
                  </a:lnTo>
                  <a:lnTo>
                    <a:pt x="3879228" y="1494615"/>
                  </a:lnTo>
                  <a:lnTo>
                    <a:pt x="3872497" y="1494615"/>
                  </a:lnTo>
                  <a:lnTo>
                    <a:pt x="3872497" y="6834"/>
                  </a:lnTo>
                  <a:lnTo>
                    <a:pt x="3879228" y="6834"/>
                  </a:lnTo>
                  <a:lnTo>
                    <a:pt x="3879228" y="13668"/>
                  </a:lnTo>
                  <a:lnTo>
                    <a:pt x="6731" y="13668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44" y="782469"/>
            <a:ext cx="2914488" cy="175012"/>
            <a:chOff x="0" y="0"/>
            <a:chExt cx="3885984" cy="2333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731" y="6731"/>
              <a:ext cx="3872484" cy="219837"/>
            </a:xfrm>
            <a:custGeom>
              <a:avLst/>
              <a:gdLst/>
              <a:ahLst/>
              <a:cxnLst/>
              <a:rect r="r" b="b" t="t" l="l"/>
              <a:pathLst>
                <a:path h="219837" w="3872484">
                  <a:moveTo>
                    <a:pt x="0" y="0"/>
                  </a:moveTo>
                  <a:lnTo>
                    <a:pt x="3872484" y="0"/>
                  </a:lnTo>
                  <a:lnTo>
                    <a:pt x="3872484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85946" cy="233299"/>
            </a:xfrm>
            <a:custGeom>
              <a:avLst/>
              <a:gdLst/>
              <a:ahLst/>
              <a:cxnLst/>
              <a:rect r="r" b="b" t="t" l="l"/>
              <a:pathLst>
                <a:path h="233299" w="3885946">
                  <a:moveTo>
                    <a:pt x="6731" y="0"/>
                  </a:moveTo>
                  <a:lnTo>
                    <a:pt x="3879215" y="0"/>
                  </a:lnTo>
                  <a:cubicBezTo>
                    <a:pt x="3882898" y="0"/>
                    <a:pt x="3885946" y="3048"/>
                    <a:pt x="3885946" y="6731"/>
                  </a:cubicBezTo>
                  <a:lnTo>
                    <a:pt x="3885946" y="226568"/>
                  </a:lnTo>
                  <a:cubicBezTo>
                    <a:pt x="3885946" y="230251"/>
                    <a:pt x="3882898" y="233299"/>
                    <a:pt x="3879215" y="233299"/>
                  </a:cubicBezTo>
                  <a:lnTo>
                    <a:pt x="6731" y="233299"/>
                  </a:lnTo>
                  <a:cubicBezTo>
                    <a:pt x="3048" y="233299"/>
                    <a:pt x="0" y="230251"/>
                    <a:pt x="0" y="226568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26568"/>
                  </a:lnTo>
                  <a:lnTo>
                    <a:pt x="6731" y="226568"/>
                  </a:lnTo>
                  <a:lnTo>
                    <a:pt x="6731" y="219837"/>
                  </a:lnTo>
                  <a:lnTo>
                    <a:pt x="3879215" y="219837"/>
                  </a:lnTo>
                  <a:lnTo>
                    <a:pt x="3879215" y="226568"/>
                  </a:lnTo>
                  <a:lnTo>
                    <a:pt x="3872484" y="226568"/>
                  </a:lnTo>
                  <a:lnTo>
                    <a:pt x="3872484" y="6731"/>
                  </a:lnTo>
                  <a:lnTo>
                    <a:pt x="3879215" y="6731"/>
                  </a:lnTo>
                  <a:lnTo>
                    <a:pt x="387921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467" y="2853169"/>
            <a:ext cx="2919765" cy="2077295"/>
            <a:chOff x="0" y="0"/>
            <a:chExt cx="3893020" cy="27697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743" y="5337"/>
              <a:ext cx="3879496" cy="2759004"/>
            </a:xfrm>
            <a:custGeom>
              <a:avLst/>
              <a:gdLst/>
              <a:ahLst/>
              <a:cxnLst/>
              <a:rect r="r" b="b" t="t" l="l"/>
              <a:pathLst>
                <a:path h="2759004" w="3879496">
                  <a:moveTo>
                    <a:pt x="0" y="0"/>
                  </a:moveTo>
                  <a:lnTo>
                    <a:pt x="3879496" y="0"/>
                  </a:lnTo>
                  <a:lnTo>
                    <a:pt x="3879496" y="2759003"/>
                  </a:lnTo>
                  <a:lnTo>
                    <a:pt x="0" y="27590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92982" cy="2769677"/>
            </a:xfrm>
            <a:custGeom>
              <a:avLst/>
              <a:gdLst/>
              <a:ahLst/>
              <a:cxnLst/>
              <a:rect r="r" b="b" t="t" l="l"/>
              <a:pathLst>
                <a:path h="2769677" w="3892982">
                  <a:moveTo>
                    <a:pt x="6743" y="0"/>
                  </a:moveTo>
                  <a:lnTo>
                    <a:pt x="3886239" y="0"/>
                  </a:lnTo>
                  <a:cubicBezTo>
                    <a:pt x="3889928" y="0"/>
                    <a:pt x="3892982" y="2417"/>
                    <a:pt x="3892982" y="5337"/>
                  </a:cubicBezTo>
                  <a:lnTo>
                    <a:pt x="3892982" y="2764340"/>
                  </a:lnTo>
                  <a:cubicBezTo>
                    <a:pt x="3892982" y="2767260"/>
                    <a:pt x="3889928" y="2769677"/>
                    <a:pt x="3886239" y="2769677"/>
                  </a:cubicBezTo>
                  <a:lnTo>
                    <a:pt x="6743" y="2769677"/>
                  </a:lnTo>
                  <a:cubicBezTo>
                    <a:pt x="3054" y="2769677"/>
                    <a:pt x="0" y="2767260"/>
                    <a:pt x="0" y="2764340"/>
                  </a:cubicBezTo>
                  <a:lnTo>
                    <a:pt x="0" y="5337"/>
                  </a:lnTo>
                  <a:cubicBezTo>
                    <a:pt x="0" y="2417"/>
                    <a:pt x="3054" y="0"/>
                    <a:pt x="6743" y="0"/>
                  </a:cubicBezTo>
                  <a:moveTo>
                    <a:pt x="6743" y="10774"/>
                  </a:moveTo>
                  <a:lnTo>
                    <a:pt x="6743" y="5337"/>
                  </a:lnTo>
                  <a:lnTo>
                    <a:pt x="13486" y="5337"/>
                  </a:lnTo>
                  <a:lnTo>
                    <a:pt x="13486" y="2764340"/>
                  </a:lnTo>
                  <a:lnTo>
                    <a:pt x="6743" y="2764340"/>
                  </a:lnTo>
                  <a:lnTo>
                    <a:pt x="6743" y="2759004"/>
                  </a:lnTo>
                  <a:lnTo>
                    <a:pt x="3886239" y="2759004"/>
                  </a:lnTo>
                  <a:lnTo>
                    <a:pt x="3886239" y="2764340"/>
                  </a:lnTo>
                  <a:lnTo>
                    <a:pt x="3879495" y="2764340"/>
                  </a:lnTo>
                  <a:lnTo>
                    <a:pt x="3879495" y="5337"/>
                  </a:lnTo>
                  <a:lnTo>
                    <a:pt x="3886239" y="5337"/>
                  </a:lnTo>
                  <a:lnTo>
                    <a:pt x="3886239" y="10673"/>
                  </a:lnTo>
                  <a:lnTo>
                    <a:pt x="6743" y="10673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467" y="2853169"/>
            <a:ext cx="2919765" cy="191345"/>
            <a:chOff x="0" y="0"/>
            <a:chExt cx="3893020" cy="2551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743" y="7359"/>
              <a:ext cx="3879496" cy="240353"/>
            </a:xfrm>
            <a:custGeom>
              <a:avLst/>
              <a:gdLst/>
              <a:ahLst/>
              <a:cxnLst/>
              <a:rect r="r" b="b" t="t" l="l"/>
              <a:pathLst>
                <a:path h="240353" w="3879496">
                  <a:moveTo>
                    <a:pt x="0" y="0"/>
                  </a:moveTo>
                  <a:lnTo>
                    <a:pt x="3879496" y="0"/>
                  </a:lnTo>
                  <a:lnTo>
                    <a:pt x="3879496" y="240353"/>
                  </a:lnTo>
                  <a:lnTo>
                    <a:pt x="0" y="2403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92982" cy="255072"/>
            </a:xfrm>
            <a:custGeom>
              <a:avLst/>
              <a:gdLst/>
              <a:ahLst/>
              <a:cxnLst/>
              <a:rect r="r" b="b" t="t" l="l"/>
              <a:pathLst>
                <a:path h="255072" w="3892982">
                  <a:moveTo>
                    <a:pt x="6743" y="0"/>
                  </a:moveTo>
                  <a:lnTo>
                    <a:pt x="3886239" y="0"/>
                  </a:lnTo>
                  <a:cubicBezTo>
                    <a:pt x="3889928" y="0"/>
                    <a:pt x="3892982" y="3332"/>
                    <a:pt x="3892982" y="7359"/>
                  </a:cubicBezTo>
                  <a:lnTo>
                    <a:pt x="3892982" y="247712"/>
                  </a:lnTo>
                  <a:cubicBezTo>
                    <a:pt x="3892982" y="251739"/>
                    <a:pt x="3889928" y="255072"/>
                    <a:pt x="3886239" y="255072"/>
                  </a:cubicBezTo>
                  <a:lnTo>
                    <a:pt x="6743" y="255072"/>
                  </a:lnTo>
                  <a:cubicBezTo>
                    <a:pt x="3054" y="255072"/>
                    <a:pt x="0" y="251739"/>
                    <a:pt x="0" y="247712"/>
                  </a:cubicBezTo>
                  <a:lnTo>
                    <a:pt x="0" y="7359"/>
                  </a:lnTo>
                  <a:cubicBezTo>
                    <a:pt x="0" y="3332"/>
                    <a:pt x="3054" y="0"/>
                    <a:pt x="6743" y="0"/>
                  </a:cubicBezTo>
                  <a:moveTo>
                    <a:pt x="6743" y="14857"/>
                  </a:moveTo>
                  <a:lnTo>
                    <a:pt x="6743" y="7359"/>
                  </a:lnTo>
                  <a:lnTo>
                    <a:pt x="13486" y="7359"/>
                  </a:lnTo>
                  <a:lnTo>
                    <a:pt x="13486" y="247712"/>
                  </a:lnTo>
                  <a:lnTo>
                    <a:pt x="6743" y="247712"/>
                  </a:lnTo>
                  <a:lnTo>
                    <a:pt x="6743" y="240353"/>
                  </a:lnTo>
                  <a:lnTo>
                    <a:pt x="3886239" y="240353"/>
                  </a:lnTo>
                  <a:lnTo>
                    <a:pt x="3886239" y="247712"/>
                  </a:lnTo>
                  <a:lnTo>
                    <a:pt x="3879495" y="247712"/>
                  </a:lnTo>
                  <a:lnTo>
                    <a:pt x="3879495" y="7359"/>
                  </a:lnTo>
                  <a:lnTo>
                    <a:pt x="3886239" y="7359"/>
                  </a:lnTo>
                  <a:lnTo>
                    <a:pt x="3886239" y="14718"/>
                  </a:lnTo>
                  <a:lnTo>
                    <a:pt x="6743" y="147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9753" y="4987614"/>
            <a:ext cx="2914488" cy="2572386"/>
            <a:chOff x="0" y="0"/>
            <a:chExt cx="3885984" cy="3429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731" y="7383"/>
              <a:ext cx="3872484" cy="3415055"/>
            </a:xfrm>
            <a:custGeom>
              <a:avLst/>
              <a:gdLst/>
              <a:ahLst/>
              <a:cxnLst/>
              <a:rect r="r" b="b" t="t" l="l"/>
              <a:pathLst>
                <a:path h="3415055" w="3872484">
                  <a:moveTo>
                    <a:pt x="0" y="0"/>
                  </a:moveTo>
                  <a:lnTo>
                    <a:pt x="3872484" y="0"/>
                  </a:lnTo>
                  <a:lnTo>
                    <a:pt x="3872484" y="3415055"/>
                  </a:lnTo>
                  <a:lnTo>
                    <a:pt x="0" y="34150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85946" cy="3429820"/>
            </a:xfrm>
            <a:custGeom>
              <a:avLst/>
              <a:gdLst/>
              <a:ahLst/>
              <a:cxnLst/>
              <a:rect r="r" b="b" t="t" l="l"/>
              <a:pathLst>
                <a:path h="3429820" w="3885946">
                  <a:moveTo>
                    <a:pt x="6731" y="0"/>
                  </a:moveTo>
                  <a:lnTo>
                    <a:pt x="3879215" y="0"/>
                  </a:lnTo>
                  <a:cubicBezTo>
                    <a:pt x="3882898" y="0"/>
                    <a:pt x="3885946" y="3343"/>
                    <a:pt x="3885946" y="7383"/>
                  </a:cubicBezTo>
                  <a:lnTo>
                    <a:pt x="3885946" y="3422438"/>
                  </a:lnTo>
                  <a:cubicBezTo>
                    <a:pt x="3885946" y="3426477"/>
                    <a:pt x="3882898" y="3429820"/>
                    <a:pt x="3879215" y="3429820"/>
                  </a:cubicBezTo>
                  <a:lnTo>
                    <a:pt x="6731" y="3429820"/>
                  </a:lnTo>
                  <a:cubicBezTo>
                    <a:pt x="3048" y="3429820"/>
                    <a:pt x="0" y="3426477"/>
                    <a:pt x="0" y="3422438"/>
                  </a:cubicBezTo>
                  <a:lnTo>
                    <a:pt x="0" y="7383"/>
                  </a:lnTo>
                  <a:cubicBezTo>
                    <a:pt x="0" y="3343"/>
                    <a:pt x="3048" y="0"/>
                    <a:pt x="6731" y="0"/>
                  </a:cubicBezTo>
                  <a:moveTo>
                    <a:pt x="6731" y="14904"/>
                  </a:moveTo>
                  <a:lnTo>
                    <a:pt x="6731" y="7383"/>
                  </a:lnTo>
                  <a:lnTo>
                    <a:pt x="13462" y="7383"/>
                  </a:lnTo>
                  <a:lnTo>
                    <a:pt x="13462" y="3422438"/>
                  </a:lnTo>
                  <a:lnTo>
                    <a:pt x="6731" y="3422438"/>
                  </a:lnTo>
                  <a:lnTo>
                    <a:pt x="6731" y="3415055"/>
                  </a:lnTo>
                  <a:lnTo>
                    <a:pt x="3879215" y="3415055"/>
                  </a:lnTo>
                  <a:lnTo>
                    <a:pt x="3879215" y="3422438"/>
                  </a:lnTo>
                  <a:lnTo>
                    <a:pt x="3872484" y="3422438"/>
                  </a:lnTo>
                  <a:lnTo>
                    <a:pt x="3872484" y="7383"/>
                  </a:lnTo>
                  <a:lnTo>
                    <a:pt x="3879215" y="7383"/>
                  </a:lnTo>
                  <a:lnTo>
                    <a:pt x="3879215" y="14765"/>
                  </a:lnTo>
                  <a:lnTo>
                    <a:pt x="6731" y="14765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9753" y="4987614"/>
            <a:ext cx="2914488" cy="222728"/>
            <a:chOff x="0" y="0"/>
            <a:chExt cx="3885984" cy="296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731" y="8566"/>
              <a:ext cx="3872484" cy="279774"/>
            </a:xfrm>
            <a:custGeom>
              <a:avLst/>
              <a:gdLst/>
              <a:ahLst/>
              <a:cxnLst/>
              <a:rect r="r" b="b" t="t" l="l"/>
              <a:pathLst>
                <a:path h="279774" w="3872484">
                  <a:moveTo>
                    <a:pt x="0" y="0"/>
                  </a:moveTo>
                  <a:lnTo>
                    <a:pt x="3872484" y="0"/>
                  </a:lnTo>
                  <a:lnTo>
                    <a:pt x="3872484" y="279774"/>
                  </a:lnTo>
                  <a:lnTo>
                    <a:pt x="0" y="2797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85946" cy="296906"/>
            </a:xfrm>
            <a:custGeom>
              <a:avLst/>
              <a:gdLst/>
              <a:ahLst/>
              <a:cxnLst/>
              <a:rect r="r" b="b" t="t" l="l"/>
              <a:pathLst>
                <a:path h="296906" w="3885946">
                  <a:moveTo>
                    <a:pt x="6731" y="0"/>
                  </a:moveTo>
                  <a:lnTo>
                    <a:pt x="3879215" y="0"/>
                  </a:lnTo>
                  <a:cubicBezTo>
                    <a:pt x="3882898" y="0"/>
                    <a:pt x="3885946" y="3879"/>
                    <a:pt x="3885946" y="8566"/>
                  </a:cubicBezTo>
                  <a:lnTo>
                    <a:pt x="3885946" y="288340"/>
                  </a:lnTo>
                  <a:cubicBezTo>
                    <a:pt x="3885946" y="293027"/>
                    <a:pt x="3882898" y="296906"/>
                    <a:pt x="3879215" y="296906"/>
                  </a:cubicBezTo>
                  <a:lnTo>
                    <a:pt x="6731" y="296906"/>
                  </a:lnTo>
                  <a:cubicBezTo>
                    <a:pt x="3048" y="296906"/>
                    <a:pt x="0" y="293027"/>
                    <a:pt x="0" y="288340"/>
                  </a:cubicBezTo>
                  <a:lnTo>
                    <a:pt x="0" y="8566"/>
                  </a:lnTo>
                  <a:cubicBezTo>
                    <a:pt x="0" y="3879"/>
                    <a:pt x="3048" y="0"/>
                    <a:pt x="6731" y="0"/>
                  </a:cubicBezTo>
                  <a:moveTo>
                    <a:pt x="6731" y="17294"/>
                  </a:moveTo>
                  <a:lnTo>
                    <a:pt x="6731" y="8566"/>
                  </a:lnTo>
                  <a:lnTo>
                    <a:pt x="13462" y="8566"/>
                  </a:lnTo>
                  <a:lnTo>
                    <a:pt x="13462" y="288340"/>
                  </a:lnTo>
                  <a:lnTo>
                    <a:pt x="6731" y="288340"/>
                  </a:lnTo>
                  <a:lnTo>
                    <a:pt x="6731" y="279773"/>
                  </a:lnTo>
                  <a:lnTo>
                    <a:pt x="3879215" y="279773"/>
                  </a:lnTo>
                  <a:lnTo>
                    <a:pt x="3879215" y="288340"/>
                  </a:lnTo>
                  <a:lnTo>
                    <a:pt x="3872484" y="288340"/>
                  </a:lnTo>
                  <a:lnTo>
                    <a:pt x="3872484" y="8566"/>
                  </a:lnTo>
                  <a:lnTo>
                    <a:pt x="3879215" y="8566"/>
                  </a:lnTo>
                  <a:lnTo>
                    <a:pt x="3879215" y="17132"/>
                  </a:lnTo>
                  <a:lnTo>
                    <a:pt x="6731" y="1713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64205" y="782469"/>
            <a:ext cx="4266495" cy="3475806"/>
            <a:chOff x="0" y="0"/>
            <a:chExt cx="5688660" cy="4634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731" y="7490"/>
              <a:ext cx="5675122" cy="4619372"/>
            </a:xfrm>
            <a:custGeom>
              <a:avLst/>
              <a:gdLst/>
              <a:ahLst/>
              <a:cxnLst/>
              <a:rect r="r" b="b" t="t" l="l"/>
              <a:pathLst>
                <a:path h="4619372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4619372"/>
                  </a:lnTo>
                  <a:lnTo>
                    <a:pt x="0" y="46193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88584" cy="4634352"/>
            </a:xfrm>
            <a:custGeom>
              <a:avLst/>
              <a:gdLst/>
              <a:ahLst/>
              <a:cxnLst/>
              <a:rect r="r" b="b" t="t" l="l"/>
              <a:pathLst>
                <a:path h="4634352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3392"/>
                    <a:pt x="5688584" y="7490"/>
                  </a:cubicBezTo>
                  <a:lnTo>
                    <a:pt x="5688584" y="4626862"/>
                  </a:lnTo>
                  <a:cubicBezTo>
                    <a:pt x="5688584" y="4630960"/>
                    <a:pt x="5685536" y="4634352"/>
                    <a:pt x="5681853" y="4634352"/>
                  </a:cubicBezTo>
                  <a:lnTo>
                    <a:pt x="6731" y="4634352"/>
                  </a:lnTo>
                  <a:cubicBezTo>
                    <a:pt x="3048" y="4634352"/>
                    <a:pt x="0" y="4630960"/>
                    <a:pt x="0" y="4626862"/>
                  </a:cubicBezTo>
                  <a:lnTo>
                    <a:pt x="0" y="7490"/>
                  </a:lnTo>
                  <a:cubicBezTo>
                    <a:pt x="0" y="3392"/>
                    <a:pt x="3048" y="0"/>
                    <a:pt x="6731" y="0"/>
                  </a:cubicBezTo>
                  <a:moveTo>
                    <a:pt x="6731" y="15120"/>
                  </a:moveTo>
                  <a:lnTo>
                    <a:pt x="6731" y="7490"/>
                  </a:lnTo>
                  <a:lnTo>
                    <a:pt x="13462" y="7490"/>
                  </a:lnTo>
                  <a:lnTo>
                    <a:pt x="13462" y="4626862"/>
                  </a:lnTo>
                  <a:lnTo>
                    <a:pt x="6731" y="4626862"/>
                  </a:lnTo>
                  <a:lnTo>
                    <a:pt x="6731" y="4619372"/>
                  </a:lnTo>
                  <a:lnTo>
                    <a:pt x="5681853" y="4619372"/>
                  </a:lnTo>
                  <a:lnTo>
                    <a:pt x="5681853" y="4626862"/>
                  </a:lnTo>
                  <a:lnTo>
                    <a:pt x="5675122" y="4626862"/>
                  </a:lnTo>
                  <a:lnTo>
                    <a:pt x="5675122" y="7490"/>
                  </a:lnTo>
                  <a:lnTo>
                    <a:pt x="5681853" y="7490"/>
                  </a:lnTo>
                  <a:lnTo>
                    <a:pt x="5681853" y="14979"/>
                  </a:lnTo>
                  <a:lnTo>
                    <a:pt x="6731" y="14979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64205" y="782469"/>
            <a:ext cx="4266495" cy="175012"/>
            <a:chOff x="0" y="0"/>
            <a:chExt cx="5688660" cy="233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731" y="6731"/>
              <a:ext cx="5675122" cy="219837"/>
            </a:xfrm>
            <a:custGeom>
              <a:avLst/>
              <a:gdLst/>
              <a:ahLst/>
              <a:cxnLst/>
              <a:rect r="r" b="b" t="t" l="l"/>
              <a:pathLst>
                <a:path h="219837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88584" cy="233299"/>
            </a:xfrm>
            <a:custGeom>
              <a:avLst/>
              <a:gdLst/>
              <a:ahLst/>
              <a:cxnLst/>
              <a:rect r="r" b="b" t="t" l="l"/>
              <a:pathLst>
                <a:path h="233299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3048"/>
                    <a:pt x="5688584" y="6731"/>
                  </a:cubicBezTo>
                  <a:lnTo>
                    <a:pt x="5688584" y="226568"/>
                  </a:lnTo>
                  <a:cubicBezTo>
                    <a:pt x="5688584" y="230251"/>
                    <a:pt x="5685536" y="233299"/>
                    <a:pt x="5681853" y="233299"/>
                  </a:cubicBezTo>
                  <a:lnTo>
                    <a:pt x="6731" y="233299"/>
                  </a:lnTo>
                  <a:cubicBezTo>
                    <a:pt x="3048" y="233299"/>
                    <a:pt x="0" y="230251"/>
                    <a:pt x="0" y="226568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26568"/>
                  </a:lnTo>
                  <a:lnTo>
                    <a:pt x="6731" y="226568"/>
                  </a:lnTo>
                  <a:lnTo>
                    <a:pt x="6731" y="219837"/>
                  </a:lnTo>
                  <a:lnTo>
                    <a:pt x="5681853" y="219837"/>
                  </a:lnTo>
                  <a:lnTo>
                    <a:pt x="5681853" y="226568"/>
                  </a:lnTo>
                  <a:lnTo>
                    <a:pt x="5675122" y="226568"/>
                  </a:lnTo>
                  <a:lnTo>
                    <a:pt x="5675122" y="6731"/>
                  </a:lnTo>
                  <a:lnTo>
                    <a:pt x="5681853" y="6731"/>
                  </a:lnTo>
                  <a:lnTo>
                    <a:pt x="568185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20673" y="7078963"/>
            <a:ext cx="3016660" cy="396357"/>
            <a:chOff x="0" y="0"/>
            <a:chExt cx="4022213" cy="5284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759" y="4407"/>
              <a:ext cx="4012641" cy="519655"/>
            </a:xfrm>
            <a:custGeom>
              <a:avLst/>
              <a:gdLst/>
              <a:ahLst/>
              <a:cxnLst/>
              <a:rect r="r" b="b" t="t" l="l"/>
              <a:pathLst>
                <a:path h="519655" w="4012641">
                  <a:moveTo>
                    <a:pt x="0" y="0"/>
                  </a:moveTo>
                  <a:lnTo>
                    <a:pt x="4012641" y="0"/>
                  </a:lnTo>
                  <a:lnTo>
                    <a:pt x="4012641" y="519654"/>
                  </a:lnTo>
                  <a:lnTo>
                    <a:pt x="0" y="5196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2160" cy="528468"/>
            </a:xfrm>
            <a:custGeom>
              <a:avLst/>
              <a:gdLst/>
              <a:ahLst/>
              <a:cxnLst/>
              <a:rect r="r" b="b" t="t" l="l"/>
              <a:pathLst>
                <a:path h="528468" w="4022160">
                  <a:moveTo>
                    <a:pt x="4759" y="0"/>
                  </a:moveTo>
                  <a:lnTo>
                    <a:pt x="4017400" y="0"/>
                  </a:lnTo>
                  <a:cubicBezTo>
                    <a:pt x="4020004" y="0"/>
                    <a:pt x="4022160" y="1995"/>
                    <a:pt x="4022160" y="4407"/>
                  </a:cubicBezTo>
                  <a:lnTo>
                    <a:pt x="4022160" y="524061"/>
                  </a:lnTo>
                  <a:cubicBezTo>
                    <a:pt x="4022160" y="526472"/>
                    <a:pt x="4020004" y="528468"/>
                    <a:pt x="4017400" y="528468"/>
                  </a:cubicBezTo>
                  <a:lnTo>
                    <a:pt x="4759" y="528468"/>
                  </a:lnTo>
                  <a:cubicBezTo>
                    <a:pt x="2155" y="528468"/>
                    <a:pt x="0" y="526472"/>
                    <a:pt x="0" y="524061"/>
                  </a:cubicBezTo>
                  <a:lnTo>
                    <a:pt x="0" y="4407"/>
                  </a:lnTo>
                  <a:cubicBezTo>
                    <a:pt x="0" y="1995"/>
                    <a:pt x="2155" y="0"/>
                    <a:pt x="4759" y="0"/>
                  </a:cubicBezTo>
                  <a:moveTo>
                    <a:pt x="4759" y="8896"/>
                  </a:moveTo>
                  <a:lnTo>
                    <a:pt x="4759" y="4407"/>
                  </a:lnTo>
                  <a:lnTo>
                    <a:pt x="9518" y="4407"/>
                  </a:lnTo>
                  <a:lnTo>
                    <a:pt x="9518" y="524061"/>
                  </a:lnTo>
                  <a:lnTo>
                    <a:pt x="4759" y="524061"/>
                  </a:lnTo>
                  <a:lnTo>
                    <a:pt x="4759" y="519655"/>
                  </a:lnTo>
                  <a:lnTo>
                    <a:pt x="4017400" y="519655"/>
                  </a:lnTo>
                  <a:lnTo>
                    <a:pt x="4017400" y="524061"/>
                  </a:lnTo>
                  <a:lnTo>
                    <a:pt x="4012641" y="524061"/>
                  </a:lnTo>
                  <a:lnTo>
                    <a:pt x="4012641" y="4407"/>
                  </a:lnTo>
                  <a:lnTo>
                    <a:pt x="4017400" y="4407"/>
                  </a:lnTo>
                  <a:lnTo>
                    <a:pt x="4017400" y="8813"/>
                  </a:lnTo>
                  <a:lnTo>
                    <a:pt x="4759" y="8813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520673" y="6972126"/>
            <a:ext cx="3016660" cy="183036"/>
            <a:chOff x="0" y="0"/>
            <a:chExt cx="4022213" cy="2440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9" y="7040"/>
              <a:ext cx="4012641" cy="229916"/>
            </a:xfrm>
            <a:custGeom>
              <a:avLst/>
              <a:gdLst/>
              <a:ahLst/>
              <a:cxnLst/>
              <a:rect r="r" b="b" t="t" l="l"/>
              <a:pathLst>
                <a:path h="229916" w="4012641">
                  <a:moveTo>
                    <a:pt x="0" y="0"/>
                  </a:moveTo>
                  <a:lnTo>
                    <a:pt x="4012641" y="0"/>
                  </a:lnTo>
                  <a:lnTo>
                    <a:pt x="4012641" y="229916"/>
                  </a:lnTo>
                  <a:lnTo>
                    <a:pt x="0" y="229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2160" cy="243995"/>
            </a:xfrm>
            <a:custGeom>
              <a:avLst/>
              <a:gdLst/>
              <a:ahLst/>
              <a:cxnLst/>
              <a:rect r="r" b="b" t="t" l="l"/>
              <a:pathLst>
                <a:path h="243995" w="4022160">
                  <a:moveTo>
                    <a:pt x="4759" y="0"/>
                  </a:moveTo>
                  <a:lnTo>
                    <a:pt x="4017400" y="0"/>
                  </a:lnTo>
                  <a:cubicBezTo>
                    <a:pt x="4020004" y="0"/>
                    <a:pt x="4022160" y="3188"/>
                    <a:pt x="4022160" y="7040"/>
                  </a:cubicBezTo>
                  <a:lnTo>
                    <a:pt x="4022160" y="236956"/>
                  </a:lnTo>
                  <a:cubicBezTo>
                    <a:pt x="4022160" y="240808"/>
                    <a:pt x="4020004" y="243995"/>
                    <a:pt x="4017400" y="243995"/>
                  </a:cubicBezTo>
                  <a:lnTo>
                    <a:pt x="4759" y="243995"/>
                  </a:lnTo>
                  <a:cubicBezTo>
                    <a:pt x="2155" y="243995"/>
                    <a:pt x="0" y="240808"/>
                    <a:pt x="0" y="236956"/>
                  </a:cubicBezTo>
                  <a:lnTo>
                    <a:pt x="0" y="7040"/>
                  </a:lnTo>
                  <a:cubicBezTo>
                    <a:pt x="0" y="3188"/>
                    <a:pt x="2155" y="0"/>
                    <a:pt x="4759" y="0"/>
                  </a:cubicBezTo>
                  <a:moveTo>
                    <a:pt x="4759" y="14212"/>
                  </a:moveTo>
                  <a:lnTo>
                    <a:pt x="4759" y="7040"/>
                  </a:lnTo>
                  <a:lnTo>
                    <a:pt x="9518" y="7040"/>
                  </a:lnTo>
                  <a:lnTo>
                    <a:pt x="9518" y="236956"/>
                  </a:lnTo>
                  <a:lnTo>
                    <a:pt x="4759" y="236956"/>
                  </a:lnTo>
                  <a:lnTo>
                    <a:pt x="4759" y="229916"/>
                  </a:lnTo>
                  <a:lnTo>
                    <a:pt x="4017400" y="229916"/>
                  </a:lnTo>
                  <a:lnTo>
                    <a:pt x="4017400" y="236956"/>
                  </a:lnTo>
                  <a:lnTo>
                    <a:pt x="4012641" y="236956"/>
                  </a:lnTo>
                  <a:lnTo>
                    <a:pt x="4012641" y="7040"/>
                  </a:lnTo>
                  <a:lnTo>
                    <a:pt x="4017400" y="7040"/>
                  </a:lnTo>
                  <a:lnTo>
                    <a:pt x="4017400" y="14079"/>
                  </a:lnTo>
                  <a:lnTo>
                    <a:pt x="4759" y="1407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164205" y="4315425"/>
            <a:ext cx="4266495" cy="1446933"/>
            <a:chOff x="0" y="0"/>
            <a:chExt cx="5688660" cy="19292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731" y="8781"/>
              <a:ext cx="5675122" cy="1911682"/>
            </a:xfrm>
            <a:custGeom>
              <a:avLst/>
              <a:gdLst/>
              <a:ahLst/>
              <a:cxnLst/>
              <a:rect r="r" b="b" t="t" l="l"/>
              <a:pathLst>
                <a:path h="1911682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1911682"/>
                  </a:lnTo>
                  <a:lnTo>
                    <a:pt x="0" y="191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88584" cy="1929244"/>
            </a:xfrm>
            <a:custGeom>
              <a:avLst/>
              <a:gdLst/>
              <a:ahLst/>
              <a:cxnLst/>
              <a:rect r="r" b="b" t="t" l="l"/>
              <a:pathLst>
                <a:path h="1929244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3976"/>
                    <a:pt x="5688584" y="8781"/>
                  </a:cubicBezTo>
                  <a:lnTo>
                    <a:pt x="5688584" y="1920463"/>
                  </a:lnTo>
                  <a:cubicBezTo>
                    <a:pt x="5688584" y="1925268"/>
                    <a:pt x="5685536" y="1929244"/>
                    <a:pt x="5681853" y="1929244"/>
                  </a:cubicBezTo>
                  <a:lnTo>
                    <a:pt x="6731" y="1929244"/>
                  </a:lnTo>
                  <a:cubicBezTo>
                    <a:pt x="3048" y="1929244"/>
                    <a:pt x="0" y="1925268"/>
                    <a:pt x="0" y="1920463"/>
                  </a:cubicBezTo>
                  <a:lnTo>
                    <a:pt x="0" y="8781"/>
                  </a:lnTo>
                  <a:cubicBezTo>
                    <a:pt x="0" y="3976"/>
                    <a:pt x="3048" y="0"/>
                    <a:pt x="6731" y="0"/>
                  </a:cubicBezTo>
                  <a:moveTo>
                    <a:pt x="6731" y="17728"/>
                  </a:moveTo>
                  <a:lnTo>
                    <a:pt x="6731" y="8781"/>
                  </a:lnTo>
                  <a:lnTo>
                    <a:pt x="13462" y="8781"/>
                  </a:lnTo>
                  <a:lnTo>
                    <a:pt x="13462" y="1920463"/>
                  </a:lnTo>
                  <a:lnTo>
                    <a:pt x="6731" y="1920463"/>
                  </a:lnTo>
                  <a:lnTo>
                    <a:pt x="6731" y="1911682"/>
                  </a:lnTo>
                  <a:lnTo>
                    <a:pt x="5681853" y="1911682"/>
                  </a:lnTo>
                  <a:lnTo>
                    <a:pt x="5681853" y="1920463"/>
                  </a:lnTo>
                  <a:lnTo>
                    <a:pt x="5675122" y="1920463"/>
                  </a:lnTo>
                  <a:lnTo>
                    <a:pt x="5675122" y="8781"/>
                  </a:lnTo>
                  <a:lnTo>
                    <a:pt x="5681853" y="8781"/>
                  </a:lnTo>
                  <a:lnTo>
                    <a:pt x="5681853" y="17563"/>
                  </a:lnTo>
                  <a:lnTo>
                    <a:pt x="6731" y="17563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64205" y="4334475"/>
            <a:ext cx="4266495" cy="205283"/>
            <a:chOff x="0" y="0"/>
            <a:chExt cx="5688660" cy="2737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731" y="7895"/>
              <a:ext cx="5675122" cy="257860"/>
            </a:xfrm>
            <a:custGeom>
              <a:avLst/>
              <a:gdLst/>
              <a:ahLst/>
              <a:cxnLst/>
              <a:rect r="r" b="b" t="t" l="l"/>
              <a:pathLst>
                <a:path h="257860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257861"/>
                  </a:lnTo>
                  <a:lnTo>
                    <a:pt x="0" y="25786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88584" cy="273651"/>
            </a:xfrm>
            <a:custGeom>
              <a:avLst/>
              <a:gdLst/>
              <a:ahLst/>
              <a:cxnLst/>
              <a:rect r="r" b="b" t="t" l="l"/>
              <a:pathLst>
                <a:path h="273651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3575"/>
                    <a:pt x="5688584" y="7895"/>
                  </a:cubicBezTo>
                  <a:lnTo>
                    <a:pt x="5688584" y="265756"/>
                  </a:lnTo>
                  <a:cubicBezTo>
                    <a:pt x="5688584" y="270076"/>
                    <a:pt x="5685536" y="273651"/>
                    <a:pt x="5681853" y="273651"/>
                  </a:cubicBezTo>
                  <a:lnTo>
                    <a:pt x="6731" y="273651"/>
                  </a:lnTo>
                  <a:cubicBezTo>
                    <a:pt x="3048" y="273651"/>
                    <a:pt x="0" y="270076"/>
                    <a:pt x="0" y="265756"/>
                  </a:cubicBezTo>
                  <a:lnTo>
                    <a:pt x="0" y="7895"/>
                  </a:lnTo>
                  <a:cubicBezTo>
                    <a:pt x="0" y="3575"/>
                    <a:pt x="3048" y="0"/>
                    <a:pt x="6731" y="0"/>
                  </a:cubicBezTo>
                  <a:moveTo>
                    <a:pt x="6731" y="15939"/>
                  </a:moveTo>
                  <a:lnTo>
                    <a:pt x="6731" y="7895"/>
                  </a:lnTo>
                  <a:lnTo>
                    <a:pt x="13462" y="7895"/>
                  </a:lnTo>
                  <a:lnTo>
                    <a:pt x="13462" y="265756"/>
                  </a:lnTo>
                  <a:lnTo>
                    <a:pt x="6731" y="265756"/>
                  </a:lnTo>
                  <a:lnTo>
                    <a:pt x="6731" y="257860"/>
                  </a:lnTo>
                  <a:lnTo>
                    <a:pt x="5681853" y="257860"/>
                  </a:lnTo>
                  <a:lnTo>
                    <a:pt x="5681853" y="265756"/>
                  </a:lnTo>
                  <a:lnTo>
                    <a:pt x="5675122" y="265756"/>
                  </a:lnTo>
                  <a:lnTo>
                    <a:pt x="5675122" y="7895"/>
                  </a:lnTo>
                  <a:lnTo>
                    <a:pt x="5681853" y="7895"/>
                  </a:lnTo>
                  <a:lnTo>
                    <a:pt x="5681853" y="15790"/>
                  </a:lnTo>
                  <a:lnTo>
                    <a:pt x="6731" y="157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730070" y="4571514"/>
            <a:ext cx="3255267" cy="1076811"/>
            <a:chOff x="0" y="0"/>
            <a:chExt cx="2768397" cy="915759"/>
          </a:xfrm>
        </p:grpSpPr>
        <p:sp>
          <p:nvSpPr>
            <p:cNvPr name="Freeform 45" id="45" descr="fig_moduleA_h1_cluster_comparison.png"/>
            <p:cNvSpPr/>
            <p:nvPr/>
          </p:nvSpPr>
          <p:spPr>
            <a:xfrm flipH="false" flipV="false" rot="0">
              <a:off x="0" y="0"/>
              <a:ext cx="2768346" cy="915797"/>
            </a:xfrm>
            <a:custGeom>
              <a:avLst/>
              <a:gdLst/>
              <a:ahLst/>
              <a:cxnLst/>
              <a:rect r="r" b="b" t="t" l="l"/>
              <a:pathLst>
                <a:path h="915797" w="2768346">
                  <a:moveTo>
                    <a:pt x="0" y="0"/>
                  </a:moveTo>
                  <a:lnTo>
                    <a:pt x="2768346" y="0"/>
                  </a:lnTo>
                  <a:lnTo>
                    <a:pt x="2768346" y="915797"/>
                  </a:lnTo>
                  <a:lnTo>
                    <a:pt x="0" y="91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639" r="-1" b="-12634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164205" y="5809983"/>
            <a:ext cx="4266495" cy="1503462"/>
            <a:chOff x="0" y="0"/>
            <a:chExt cx="5688660" cy="20046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6731" y="9124"/>
              <a:ext cx="5675122" cy="1986368"/>
            </a:xfrm>
            <a:custGeom>
              <a:avLst/>
              <a:gdLst/>
              <a:ahLst/>
              <a:cxnLst/>
              <a:rect r="r" b="b" t="t" l="l"/>
              <a:pathLst>
                <a:path h="1986368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1986368"/>
                  </a:lnTo>
                  <a:lnTo>
                    <a:pt x="0" y="1986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88584" cy="2004616"/>
            </a:xfrm>
            <a:custGeom>
              <a:avLst/>
              <a:gdLst/>
              <a:ahLst/>
              <a:cxnLst/>
              <a:rect r="r" b="b" t="t" l="l"/>
              <a:pathLst>
                <a:path h="2004616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4132"/>
                    <a:pt x="5688584" y="9124"/>
                  </a:cubicBezTo>
                  <a:lnTo>
                    <a:pt x="5688584" y="1995492"/>
                  </a:lnTo>
                  <a:cubicBezTo>
                    <a:pt x="5688584" y="2000484"/>
                    <a:pt x="5685536" y="2004616"/>
                    <a:pt x="5681853" y="2004616"/>
                  </a:cubicBezTo>
                  <a:lnTo>
                    <a:pt x="6731" y="2004616"/>
                  </a:lnTo>
                  <a:cubicBezTo>
                    <a:pt x="3048" y="2004616"/>
                    <a:pt x="0" y="2000484"/>
                    <a:pt x="0" y="1995492"/>
                  </a:cubicBezTo>
                  <a:lnTo>
                    <a:pt x="0" y="9124"/>
                  </a:lnTo>
                  <a:cubicBezTo>
                    <a:pt x="0" y="4132"/>
                    <a:pt x="3048" y="0"/>
                    <a:pt x="6731" y="0"/>
                  </a:cubicBezTo>
                  <a:moveTo>
                    <a:pt x="6731" y="18421"/>
                  </a:moveTo>
                  <a:lnTo>
                    <a:pt x="6731" y="9124"/>
                  </a:lnTo>
                  <a:lnTo>
                    <a:pt x="13462" y="9124"/>
                  </a:lnTo>
                  <a:lnTo>
                    <a:pt x="13462" y="1995492"/>
                  </a:lnTo>
                  <a:lnTo>
                    <a:pt x="6731" y="1995492"/>
                  </a:lnTo>
                  <a:lnTo>
                    <a:pt x="6731" y="1986368"/>
                  </a:lnTo>
                  <a:lnTo>
                    <a:pt x="5681853" y="1986368"/>
                  </a:lnTo>
                  <a:lnTo>
                    <a:pt x="5681853" y="1995492"/>
                  </a:lnTo>
                  <a:lnTo>
                    <a:pt x="5675122" y="1995492"/>
                  </a:lnTo>
                  <a:lnTo>
                    <a:pt x="5675122" y="9124"/>
                  </a:lnTo>
                  <a:lnTo>
                    <a:pt x="5681853" y="9124"/>
                  </a:lnTo>
                  <a:lnTo>
                    <a:pt x="5681853" y="18249"/>
                  </a:lnTo>
                  <a:lnTo>
                    <a:pt x="6731" y="18249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164205" y="5809983"/>
            <a:ext cx="4266495" cy="175012"/>
            <a:chOff x="0" y="0"/>
            <a:chExt cx="5688660" cy="2333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6731" y="6731"/>
              <a:ext cx="5675122" cy="219837"/>
            </a:xfrm>
            <a:custGeom>
              <a:avLst/>
              <a:gdLst/>
              <a:ahLst/>
              <a:cxnLst/>
              <a:rect r="r" b="b" t="t" l="l"/>
              <a:pathLst>
                <a:path h="219837" w="5675122">
                  <a:moveTo>
                    <a:pt x="0" y="0"/>
                  </a:moveTo>
                  <a:lnTo>
                    <a:pt x="5675122" y="0"/>
                  </a:lnTo>
                  <a:lnTo>
                    <a:pt x="5675122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88584" cy="233299"/>
            </a:xfrm>
            <a:custGeom>
              <a:avLst/>
              <a:gdLst/>
              <a:ahLst/>
              <a:cxnLst/>
              <a:rect r="r" b="b" t="t" l="l"/>
              <a:pathLst>
                <a:path h="233299" w="5688584">
                  <a:moveTo>
                    <a:pt x="6731" y="0"/>
                  </a:moveTo>
                  <a:lnTo>
                    <a:pt x="5681853" y="0"/>
                  </a:lnTo>
                  <a:cubicBezTo>
                    <a:pt x="5685536" y="0"/>
                    <a:pt x="5688584" y="3048"/>
                    <a:pt x="5688584" y="6731"/>
                  </a:cubicBezTo>
                  <a:lnTo>
                    <a:pt x="5688584" y="226568"/>
                  </a:lnTo>
                  <a:cubicBezTo>
                    <a:pt x="5688584" y="230251"/>
                    <a:pt x="5685536" y="233299"/>
                    <a:pt x="5681853" y="233299"/>
                  </a:cubicBezTo>
                  <a:lnTo>
                    <a:pt x="6731" y="233299"/>
                  </a:lnTo>
                  <a:cubicBezTo>
                    <a:pt x="3048" y="233299"/>
                    <a:pt x="0" y="230251"/>
                    <a:pt x="0" y="226568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26568"/>
                  </a:lnTo>
                  <a:lnTo>
                    <a:pt x="6731" y="226568"/>
                  </a:lnTo>
                  <a:lnTo>
                    <a:pt x="6731" y="219837"/>
                  </a:lnTo>
                  <a:lnTo>
                    <a:pt x="5681853" y="219837"/>
                  </a:lnTo>
                  <a:lnTo>
                    <a:pt x="5681853" y="226568"/>
                  </a:lnTo>
                  <a:lnTo>
                    <a:pt x="5675122" y="226568"/>
                  </a:lnTo>
                  <a:lnTo>
                    <a:pt x="5675122" y="6731"/>
                  </a:lnTo>
                  <a:lnTo>
                    <a:pt x="5681853" y="6731"/>
                  </a:lnTo>
                  <a:lnTo>
                    <a:pt x="568185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790055" y="6032621"/>
            <a:ext cx="3135297" cy="1046342"/>
            <a:chOff x="0" y="0"/>
            <a:chExt cx="2744013" cy="915759"/>
          </a:xfrm>
        </p:grpSpPr>
        <p:sp>
          <p:nvSpPr>
            <p:cNvPr name="Freeform 53" id="53" descr="fig_moduleD_h9_h10_alignment.png"/>
            <p:cNvSpPr/>
            <p:nvPr/>
          </p:nvSpPr>
          <p:spPr>
            <a:xfrm flipH="false" flipV="false" rot="0">
              <a:off x="0" y="0"/>
              <a:ext cx="2743962" cy="915797"/>
            </a:xfrm>
            <a:custGeom>
              <a:avLst/>
              <a:gdLst/>
              <a:ahLst/>
              <a:cxnLst/>
              <a:rect r="r" b="b" t="t" l="l"/>
              <a:pathLst>
                <a:path h="915797" w="2743962">
                  <a:moveTo>
                    <a:pt x="0" y="0"/>
                  </a:moveTo>
                  <a:lnTo>
                    <a:pt x="2743962" y="0"/>
                  </a:lnTo>
                  <a:lnTo>
                    <a:pt x="2743962" y="915797"/>
                  </a:lnTo>
                  <a:lnTo>
                    <a:pt x="0" y="91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39" r="-1" b="-1263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520673" y="782469"/>
            <a:ext cx="3016660" cy="594265"/>
            <a:chOff x="0" y="0"/>
            <a:chExt cx="4022213" cy="79235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6967" y="4116"/>
              <a:ext cx="4008240" cy="784058"/>
            </a:xfrm>
            <a:custGeom>
              <a:avLst/>
              <a:gdLst/>
              <a:ahLst/>
              <a:cxnLst/>
              <a:rect r="r" b="b" t="t" l="l"/>
              <a:pathLst>
                <a:path h="784058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784058"/>
                  </a:lnTo>
                  <a:lnTo>
                    <a:pt x="0" y="7840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2174" cy="792291"/>
            </a:xfrm>
            <a:custGeom>
              <a:avLst/>
              <a:gdLst/>
              <a:ahLst/>
              <a:cxnLst/>
              <a:rect r="r" b="b" t="t" l="l"/>
              <a:pathLst>
                <a:path h="792291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1864"/>
                    <a:pt x="4022174" y="4116"/>
                  </a:cubicBezTo>
                  <a:lnTo>
                    <a:pt x="4022174" y="788174"/>
                  </a:lnTo>
                  <a:cubicBezTo>
                    <a:pt x="4022174" y="790427"/>
                    <a:pt x="4019019" y="792291"/>
                    <a:pt x="4015207" y="792291"/>
                  </a:cubicBezTo>
                  <a:lnTo>
                    <a:pt x="6967" y="792291"/>
                  </a:lnTo>
                  <a:cubicBezTo>
                    <a:pt x="3155" y="792291"/>
                    <a:pt x="0" y="790427"/>
                    <a:pt x="0" y="788174"/>
                  </a:cubicBezTo>
                  <a:lnTo>
                    <a:pt x="0" y="4116"/>
                  </a:lnTo>
                  <a:cubicBezTo>
                    <a:pt x="0" y="1864"/>
                    <a:pt x="3155" y="0"/>
                    <a:pt x="6967" y="0"/>
                  </a:cubicBezTo>
                  <a:moveTo>
                    <a:pt x="6967" y="8310"/>
                  </a:moveTo>
                  <a:lnTo>
                    <a:pt x="6967" y="4116"/>
                  </a:lnTo>
                  <a:lnTo>
                    <a:pt x="13934" y="4116"/>
                  </a:lnTo>
                  <a:lnTo>
                    <a:pt x="13934" y="788174"/>
                  </a:lnTo>
                  <a:lnTo>
                    <a:pt x="6967" y="788174"/>
                  </a:lnTo>
                  <a:lnTo>
                    <a:pt x="6967" y="784058"/>
                  </a:lnTo>
                  <a:lnTo>
                    <a:pt x="4015207" y="784058"/>
                  </a:lnTo>
                  <a:lnTo>
                    <a:pt x="4015207" y="788174"/>
                  </a:lnTo>
                  <a:lnTo>
                    <a:pt x="4008240" y="788174"/>
                  </a:lnTo>
                  <a:lnTo>
                    <a:pt x="4008240" y="4116"/>
                  </a:lnTo>
                  <a:lnTo>
                    <a:pt x="4015207" y="4116"/>
                  </a:lnTo>
                  <a:lnTo>
                    <a:pt x="4015207" y="8233"/>
                  </a:lnTo>
                  <a:lnTo>
                    <a:pt x="6967" y="8233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520673" y="782469"/>
            <a:ext cx="3016660" cy="175012"/>
            <a:chOff x="0" y="0"/>
            <a:chExt cx="4022213" cy="2333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6967" y="6731"/>
              <a:ext cx="4008240" cy="219837"/>
            </a:xfrm>
            <a:custGeom>
              <a:avLst/>
              <a:gdLst/>
              <a:ahLst/>
              <a:cxnLst/>
              <a:rect r="r" b="b" t="t" l="l"/>
              <a:pathLst>
                <a:path h="219837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22174" cy="233299"/>
            </a:xfrm>
            <a:custGeom>
              <a:avLst/>
              <a:gdLst/>
              <a:ahLst/>
              <a:cxnLst/>
              <a:rect r="r" b="b" t="t" l="l"/>
              <a:pathLst>
                <a:path h="233299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3048"/>
                    <a:pt x="4022174" y="6731"/>
                  </a:cubicBezTo>
                  <a:lnTo>
                    <a:pt x="4022174" y="226568"/>
                  </a:lnTo>
                  <a:cubicBezTo>
                    <a:pt x="4022174" y="230251"/>
                    <a:pt x="4019019" y="233299"/>
                    <a:pt x="4015207" y="233299"/>
                  </a:cubicBezTo>
                  <a:lnTo>
                    <a:pt x="6967" y="233299"/>
                  </a:lnTo>
                  <a:cubicBezTo>
                    <a:pt x="3155" y="233299"/>
                    <a:pt x="0" y="230251"/>
                    <a:pt x="0" y="226568"/>
                  </a:cubicBezTo>
                  <a:lnTo>
                    <a:pt x="0" y="6731"/>
                  </a:lnTo>
                  <a:cubicBezTo>
                    <a:pt x="0" y="3048"/>
                    <a:pt x="3155" y="0"/>
                    <a:pt x="6967" y="0"/>
                  </a:cubicBezTo>
                  <a:moveTo>
                    <a:pt x="6967" y="13589"/>
                  </a:moveTo>
                  <a:lnTo>
                    <a:pt x="6967" y="6731"/>
                  </a:lnTo>
                  <a:lnTo>
                    <a:pt x="13934" y="6731"/>
                  </a:lnTo>
                  <a:lnTo>
                    <a:pt x="13934" y="226568"/>
                  </a:lnTo>
                  <a:lnTo>
                    <a:pt x="6967" y="226568"/>
                  </a:lnTo>
                  <a:lnTo>
                    <a:pt x="6967" y="219837"/>
                  </a:lnTo>
                  <a:lnTo>
                    <a:pt x="4015207" y="219837"/>
                  </a:lnTo>
                  <a:lnTo>
                    <a:pt x="4015207" y="226568"/>
                  </a:lnTo>
                  <a:lnTo>
                    <a:pt x="4008240" y="226568"/>
                  </a:lnTo>
                  <a:lnTo>
                    <a:pt x="4008240" y="6731"/>
                  </a:lnTo>
                  <a:lnTo>
                    <a:pt x="4015207" y="6731"/>
                  </a:lnTo>
                  <a:lnTo>
                    <a:pt x="4015207" y="13462"/>
                  </a:lnTo>
                  <a:lnTo>
                    <a:pt x="6967" y="134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520673" y="1433884"/>
            <a:ext cx="3016660" cy="1586070"/>
            <a:chOff x="0" y="0"/>
            <a:chExt cx="4022213" cy="2114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6967" y="7979"/>
              <a:ext cx="4008240" cy="2098727"/>
            </a:xfrm>
            <a:custGeom>
              <a:avLst/>
              <a:gdLst/>
              <a:ahLst/>
              <a:cxnLst/>
              <a:rect r="r" b="b" t="t" l="l"/>
              <a:pathLst>
                <a:path h="2098727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2098727"/>
                  </a:lnTo>
                  <a:lnTo>
                    <a:pt x="0" y="20987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2174" cy="2114684"/>
            </a:xfrm>
            <a:custGeom>
              <a:avLst/>
              <a:gdLst/>
              <a:ahLst/>
              <a:cxnLst/>
              <a:rect r="r" b="b" t="t" l="l"/>
              <a:pathLst>
                <a:path h="2114684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3613"/>
                    <a:pt x="4022174" y="7979"/>
                  </a:cubicBezTo>
                  <a:lnTo>
                    <a:pt x="4022174" y="2106706"/>
                  </a:lnTo>
                  <a:cubicBezTo>
                    <a:pt x="4022174" y="2111071"/>
                    <a:pt x="4019019" y="2114684"/>
                    <a:pt x="4015207" y="2114684"/>
                  </a:cubicBezTo>
                  <a:lnTo>
                    <a:pt x="6967" y="2114684"/>
                  </a:lnTo>
                  <a:cubicBezTo>
                    <a:pt x="3155" y="2114684"/>
                    <a:pt x="0" y="2111071"/>
                    <a:pt x="0" y="2106706"/>
                  </a:cubicBezTo>
                  <a:lnTo>
                    <a:pt x="0" y="7979"/>
                  </a:lnTo>
                  <a:cubicBezTo>
                    <a:pt x="0" y="3613"/>
                    <a:pt x="3155" y="0"/>
                    <a:pt x="6967" y="0"/>
                  </a:cubicBezTo>
                  <a:moveTo>
                    <a:pt x="6967" y="16108"/>
                  </a:moveTo>
                  <a:lnTo>
                    <a:pt x="6967" y="7979"/>
                  </a:lnTo>
                  <a:lnTo>
                    <a:pt x="13934" y="7979"/>
                  </a:lnTo>
                  <a:lnTo>
                    <a:pt x="13934" y="2106706"/>
                  </a:lnTo>
                  <a:lnTo>
                    <a:pt x="6967" y="2106706"/>
                  </a:lnTo>
                  <a:lnTo>
                    <a:pt x="6967" y="2098727"/>
                  </a:lnTo>
                  <a:lnTo>
                    <a:pt x="4015207" y="2098727"/>
                  </a:lnTo>
                  <a:lnTo>
                    <a:pt x="4015207" y="2106706"/>
                  </a:lnTo>
                  <a:lnTo>
                    <a:pt x="4008240" y="2106706"/>
                  </a:lnTo>
                  <a:lnTo>
                    <a:pt x="4008240" y="7979"/>
                  </a:lnTo>
                  <a:lnTo>
                    <a:pt x="4015207" y="7979"/>
                  </a:lnTo>
                  <a:lnTo>
                    <a:pt x="4015207" y="15958"/>
                  </a:lnTo>
                  <a:lnTo>
                    <a:pt x="6967" y="15958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520673" y="1433884"/>
            <a:ext cx="3016660" cy="166747"/>
            <a:chOff x="0" y="0"/>
            <a:chExt cx="4022213" cy="2223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6967" y="6413"/>
              <a:ext cx="4008240" cy="209455"/>
            </a:xfrm>
            <a:custGeom>
              <a:avLst/>
              <a:gdLst/>
              <a:ahLst/>
              <a:cxnLst/>
              <a:rect r="r" b="b" t="t" l="l"/>
              <a:pathLst>
                <a:path h="209455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209455"/>
                  </a:lnTo>
                  <a:lnTo>
                    <a:pt x="0" y="20945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2174" cy="222281"/>
            </a:xfrm>
            <a:custGeom>
              <a:avLst/>
              <a:gdLst/>
              <a:ahLst/>
              <a:cxnLst/>
              <a:rect r="r" b="b" t="t" l="l"/>
              <a:pathLst>
                <a:path h="222281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2904"/>
                    <a:pt x="4022174" y="6413"/>
                  </a:cubicBezTo>
                  <a:lnTo>
                    <a:pt x="4022174" y="215868"/>
                  </a:lnTo>
                  <a:cubicBezTo>
                    <a:pt x="4022174" y="219377"/>
                    <a:pt x="4019019" y="222281"/>
                    <a:pt x="4015207" y="222281"/>
                  </a:cubicBezTo>
                  <a:lnTo>
                    <a:pt x="6967" y="222281"/>
                  </a:lnTo>
                  <a:cubicBezTo>
                    <a:pt x="3155" y="222281"/>
                    <a:pt x="0" y="219377"/>
                    <a:pt x="0" y="215868"/>
                  </a:cubicBezTo>
                  <a:lnTo>
                    <a:pt x="0" y="6413"/>
                  </a:lnTo>
                  <a:cubicBezTo>
                    <a:pt x="0" y="2904"/>
                    <a:pt x="3155" y="0"/>
                    <a:pt x="6967" y="0"/>
                  </a:cubicBezTo>
                  <a:moveTo>
                    <a:pt x="6967" y="12947"/>
                  </a:moveTo>
                  <a:lnTo>
                    <a:pt x="6967" y="6413"/>
                  </a:lnTo>
                  <a:lnTo>
                    <a:pt x="13934" y="6413"/>
                  </a:lnTo>
                  <a:lnTo>
                    <a:pt x="13934" y="215868"/>
                  </a:lnTo>
                  <a:lnTo>
                    <a:pt x="6967" y="215868"/>
                  </a:lnTo>
                  <a:lnTo>
                    <a:pt x="6967" y="209455"/>
                  </a:lnTo>
                  <a:lnTo>
                    <a:pt x="4015207" y="209455"/>
                  </a:lnTo>
                  <a:lnTo>
                    <a:pt x="4015207" y="215868"/>
                  </a:lnTo>
                  <a:lnTo>
                    <a:pt x="4008240" y="215868"/>
                  </a:lnTo>
                  <a:lnTo>
                    <a:pt x="4008240" y="6413"/>
                  </a:lnTo>
                  <a:lnTo>
                    <a:pt x="4015207" y="6413"/>
                  </a:lnTo>
                  <a:lnTo>
                    <a:pt x="4015207" y="12826"/>
                  </a:lnTo>
                  <a:lnTo>
                    <a:pt x="6967" y="1282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071102" y="1657781"/>
            <a:ext cx="1915802" cy="1126886"/>
            <a:chOff x="0" y="0"/>
            <a:chExt cx="1961705" cy="1153887"/>
          </a:xfrm>
        </p:grpSpPr>
        <p:sp>
          <p:nvSpPr>
            <p:cNvPr name="Freeform 67" id="67" descr="graph_12_1_h11_dual_similarity.png"/>
            <p:cNvSpPr/>
            <p:nvPr/>
          </p:nvSpPr>
          <p:spPr>
            <a:xfrm flipH="false" flipV="false" rot="0">
              <a:off x="0" y="0"/>
              <a:ext cx="1961718" cy="1153874"/>
            </a:xfrm>
            <a:custGeom>
              <a:avLst/>
              <a:gdLst/>
              <a:ahLst/>
              <a:cxnLst/>
              <a:rect r="r" b="b" t="t" l="l"/>
              <a:pathLst>
                <a:path h="1153874" w="1961718">
                  <a:moveTo>
                    <a:pt x="0" y="0"/>
                  </a:moveTo>
                  <a:lnTo>
                    <a:pt x="1961718" y="0"/>
                  </a:lnTo>
                  <a:lnTo>
                    <a:pt x="1961718" y="1153874"/>
                  </a:lnTo>
                  <a:lnTo>
                    <a:pt x="0" y="1153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5" t="0" r="-334" b="-1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520673" y="3077104"/>
            <a:ext cx="3016660" cy="1462654"/>
            <a:chOff x="0" y="0"/>
            <a:chExt cx="4022213" cy="195020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6967" y="7358"/>
              <a:ext cx="4008240" cy="1935420"/>
            </a:xfrm>
            <a:custGeom>
              <a:avLst/>
              <a:gdLst/>
              <a:ahLst/>
              <a:cxnLst/>
              <a:rect r="r" b="b" t="t" l="l"/>
              <a:pathLst>
                <a:path h="1935420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1935420"/>
                  </a:lnTo>
                  <a:lnTo>
                    <a:pt x="0" y="19354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22174" cy="1950136"/>
            </a:xfrm>
            <a:custGeom>
              <a:avLst/>
              <a:gdLst/>
              <a:ahLst/>
              <a:cxnLst/>
              <a:rect r="r" b="b" t="t" l="l"/>
              <a:pathLst>
                <a:path h="1950136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3332"/>
                    <a:pt x="4022174" y="7358"/>
                  </a:cubicBezTo>
                  <a:lnTo>
                    <a:pt x="4022174" y="1942778"/>
                  </a:lnTo>
                  <a:cubicBezTo>
                    <a:pt x="4022174" y="1946804"/>
                    <a:pt x="4019019" y="1950136"/>
                    <a:pt x="4015207" y="1950136"/>
                  </a:cubicBezTo>
                  <a:lnTo>
                    <a:pt x="6967" y="1950136"/>
                  </a:lnTo>
                  <a:cubicBezTo>
                    <a:pt x="3155" y="1950136"/>
                    <a:pt x="0" y="1946804"/>
                    <a:pt x="0" y="1942778"/>
                  </a:cubicBezTo>
                  <a:lnTo>
                    <a:pt x="0" y="7358"/>
                  </a:lnTo>
                  <a:cubicBezTo>
                    <a:pt x="0" y="3332"/>
                    <a:pt x="3155" y="0"/>
                    <a:pt x="6967" y="0"/>
                  </a:cubicBezTo>
                  <a:moveTo>
                    <a:pt x="6967" y="14855"/>
                  </a:moveTo>
                  <a:lnTo>
                    <a:pt x="6967" y="7358"/>
                  </a:lnTo>
                  <a:lnTo>
                    <a:pt x="13934" y="7358"/>
                  </a:lnTo>
                  <a:lnTo>
                    <a:pt x="13934" y="1942778"/>
                  </a:lnTo>
                  <a:lnTo>
                    <a:pt x="6967" y="1942778"/>
                  </a:lnTo>
                  <a:lnTo>
                    <a:pt x="6967" y="1935420"/>
                  </a:lnTo>
                  <a:lnTo>
                    <a:pt x="4015207" y="1935420"/>
                  </a:lnTo>
                  <a:lnTo>
                    <a:pt x="4015207" y="1942778"/>
                  </a:lnTo>
                  <a:lnTo>
                    <a:pt x="4008240" y="1942778"/>
                  </a:lnTo>
                  <a:lnTo>
                    <a:pt x="4008240" y="7358"/>
                  </a:lnTo>
                  <a:lnTo>
                    <a:pt x="4015207" y="7358"/>
                  </a:lnTo>
                  <a:lnTo>
                    <a:pt x="4015207" y="14716"/>
                  </a:lnTo>
                  <a:lnTo>
                    <a:pt x="6967" y="14716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520673" y="3077104"/>
            <a:ext cx="3016660" cy="171450"/>
            <a:chOff x="0" y="0"/>
            <a:chExt cx="4022213" cy="228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6967" y="6594"/>
              <a:ext cx="4008240" cy="215362"/>
            </a:xfrm>
            <a:custGeom>
              <a:avLst/>
              <a:gdLst/>
              <a:ahLst/>
              <a:cxnLst/>
              <a:rect r="r" b="b" t="t" l="l"/>
              <a:pathLst>
                <a:path h="215362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215362"/>
                  </a:lnTo>
                  <a:lnTo>
                    <a:pt x="0" y="21536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2174" cy="228550"/>
            </a:xfrm>
            <a:custGeom>
              <a:avLst/>
              <a:gdLst/>
              <a:ahLst/>
              <a:cxnLst/>
              <a:rect r="r" b="b" t="t" l="l"/>
              <a:pathLst>
                <a:path h="228550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2986"/>
                    <a:pt x="4022174" y="6594"/>
                  </a:cubicBezTo>
                  <a:lnTo>
                    <a:pt x="4022174" y="221956"/>
                  </a:lnTo>
                  <a:cubicBezTo>
                    <a:pt x="4022174" y="225564"/>
                    <a:pt x="4019019" y="228550"/>
                    <a:pt x="4015207" y="228550"/>
                  </a:cubicBezTo>
                  <a:lnTo>
                    <a:pt x="6967" y="228550"/>
                  </a:lnTo>
                  <a:cubicBezTo>
                    <a:pt x="3155" y="228550"/>
                    <a:pt x="0" y="225564"/>
                    <a:pt x="0" y="221956"/>
                  </a:cubicBezTo>
                  <a:lnTo>
                    <a:pt x="0" y="6594"/>
                  </a:lnTo>
                  <a:cubicBezTo>
                    <a:pt x="0" y="2986"/>
                    <a:pt x="3155" y="0"/>
                    <a:pt x="6967" y="0"/>
                  </a:cubicBezTo>
                  <a:moveTo>
                    <a:pt x="6967" y="13312"/>
                  </a:moveTo>
                  <a:lnTo>
                    <a:pt x="6967" y="6594"/>
                  </a:lnTo>
                  <a:lnTo>
                    <a:pt x="13934" y="6594"/>
                  </a:lnTo>
                  <a:lnTo>
                    <a:pt x="13934" y="221956"/>
                  </a:lnTo>
                  <a:lnTo>
                    <a:pt x="6967" y="221956"/>
                  </a:lnTo>
                  <a:lnTo>
                    <a:pt x="6967" y="215362"/>
                  </a:lnTo>
                  <a:lnTo>
                    <a:pt x="4015207" y="215362"/>
                  </a:lnTo>
                  <a:lnTo>
                    <a:pt x="4015207" y="221956"/>
                  </a:lnTo>
                  <a:lnTo>
                    <a:pt x="4008240" y="221956"/>
                  </a:lnTo>
                  <a:lnTo>
                    <a:pt x="4008240" y="6594"/>
                  </a:lnTo>
                  <a:lnTo>
                    <a:pt x="4015207" y="6594"/>
                  </a:lnTo>
                  <a:lnTo>
                    <a:pt x="4015207" y="13188"/>
                  </a:lnTo>
                  <a:lnTo>
                    <a:pt x="6967" y="1318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878564" y="3296179"/>
            <a:ext cx="2369764" cy="940051"/>
            <a:chOff x="0" y="0"/>
            <a:chExt cx="2831784" cy="1123328"/>
          </a:xfrm>
        </p:grpSpPr>
        <p:sp>
          <p:nvSpPr>
            <p:cNvPr name="Freeform 75" id="75" descr="graph_13_1_composite_vs_vft_confidence.png"/>
            <p:cNvSpPr/>
            <p:nvPr/>
          </p:nvSpPr>
          <p:spPr>
            <a:xfrm flipH="false" flipV="false" rot="0">
              <a:off x="0" y="0"/>
              <a:ext cx="2831797" cy="1123315"/>
            </a:xfrm>
            <a:custGeom>
              <a:avLst/>
              <a:gdLst/>
              <a:ahLst/>
              <a:cxnLst/>
              <a:rect r="r" b="b" t="t" l="l"/>
              <a:pathLst>
                <a:path h="1123315" w="2831797">
                  <a:moveTo>
                    <a:pt x="0" y="0"/>
                  </a:moveTo>
                  <a:lnTo>
                    <a:pt x="2831797" y="0"/>
                  </a:lnTo>
                  <a:lnTo>
                    <a:pt x="2831797" y="1123315"/>
                  </a:lnTo>
                  <a:lnTo>
                    <a:pt x="0" y="1123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8" t="0" r="-707" b="-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520673" y="4615958"/>
            <a:ext cx="3016660" cy="2281676"/>
            <a:chOff x="0" y="0"/>
            <a:chExt cx="4022213" cy="304223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6967" y="6679"/>
              <a:ext cx="4008240" cy="3028814"/>
            </a:xfrm>
            <a:custGeom>
              <a:avLst/>
              <a:gdLst/>
              <a:ahLst/>
              <a:cxnLst/>
              <a:rect r="r" b="b" t="t" l="l"/>
              <a:pathLst>
                <a:path h="3028814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3028814"/>
                  </a:lnTo>
                  <a:lnTo>
                    <a:pt x="0" y="30288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22174" cy="3042171"/>
            </a:xfrm>
            <a:custGeom>
              <a:avLst/>
              <a:gdLst/>
              <a:ahLst/>
              <a:cxnLst/>
              <a:rect r="r" b="b" t="t" l="l"/>
              <a:pathLst>
                <a:path h="3042171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3024"/>
                    <a:pt x="4022174" y="6679"/>
                  </a:cubicBezTo>
                  <a:lnTo>
                    <a:pt x="4022174" y="3035493"/>
                  </a:lnTo>
                  <a:cubicBezTo>
                    <a:pt x="4022174" y="3039147"/>
                    <a:pt x="4019019" y="3042171"/>
                    <a:pt x="4015207" y="3042171"/>
                  </a:cubicBezTo>
                  <a:lnTo>
                    <a:pt x="6967" y="3042171"/>
                  </a:lnTo>
                  <a:cubicBezTo>
                    <a:pt x="3155" y="3042171"/>
                    <a:pt x="0" y="3039147"/>
                    <a:pt x="0" y="3035493"/>
                  </a:cubicBezTo>
                  <a:lnTo>
                    <a:pt x="0" y="6679"/>
                  </a:lnTo>
                  <a:cubicBezTo>
                    <a:pt x="0" y="3024"/>
                    <a:pt x="3155" y="0"/>
                    <a:pt x="6967" y="0"/>
                  </a:cubicBezTo>
                  <a:moveTo>
                    <a:pt x="6967" y="13483"/>
                  </a:moveTo>
                  <a:lnTo>
                    <a:pt x="6967" y="6679"/>
                  </a:lnTo>
                  <a:lnTo>
                    <a:pt x="13934" y="6679"/>
                  </a:lnTo>
                  <a:lnTo>
                    <a:pt x="13934" y="3035493"/>
                  </a:lnTo>
                  <a:lnTo>
                    <a:pt x="6967" y="3035493"/>
                  </a:lnTo>
                  <a:lnTo>
                    <a:pt x="6967" y="3028814"/>
                  </a:lnTo>
                  <a:lnTo>
                    <a:pt x="4015207" y="3028814"/>
                  </a:lnTo>
                  <a:lnTo>
                    <a:pt x="4015207" y="3035493"/>
                  </a:lnTo>
                  <a:lnTo>
                    <a:pt x="4008240" y="3035493"/>
                  </a:lnTo>
                  <a:lnTo>
                    <a:pt x="4008240" y="6679"/>
                  </a:lnTo>
                  <a:lnTo>
                    <a:pt x="4015207" y="6679"/>
                  </a:lnTo>
                  <a:lnTo>
                    <a:pt x="4015207" y="13357"/>
                  </a:lnTo>
                  <a:lnTo>
                    <a:pt x="6967" y="13357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520673" y="4615958"/>
            <a:ext cx="3016660" cy="160792"/>
            <a:chOff x="0" y="0"/>
            <a:chExt cx="4022213" cy="21438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6967" y="6184"/>
              <a:ext cx="4008240" cy="201974"/>
            </a:xfrm>
            <a:custGeom>
              <a:avLst/>
              <a:gdLst/>
              <a:ahLst/>
              <a:cxnLst/>
              <a:rect r="r" b="b" t="t" l="l"/>
              <a:pathLst>
                <a:path h="201974" w="4008240">
                  <a:moveTo>
                    <a:pt x="0" y="0"/>
                  </a:moveTo>
                  <a:lnTo>
                    <a:pt x="4008240" y="0"/>
                  </a:lnTo>
                  <a:lnTo>
                    <a:pt x="4008240" y="201974"/>
                  </a:lnTo>
                  <a:lnTo>
                    <a:pt x="0" y="2019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22174" cy="214342"/>
            </a:xfrm>
            <a:custGeom>
              <a:avLst/>
              <a:gdLst/>
              <a:ahLst/>
              <a:cxnLst/>
              <a:rect r="r" b="b" t="t" l="l"/>
              <a:pathLst>
                <a:path h="214342" w="4022174">
                  <a:moveTo>
                    <a:pt x="6967" y="0"/>
                  </a:moveTo>
                  <a:lnTo>
                    <a:pt x="4015207" y="0"/>
                  </a:lnTo>
                  <a:cubicBezTo>
                    <a:pt x="4019019" y="0"/>
                    <a:pt x="4022174" y="2800"/>
                    <a:pt x="4022174" y="6184"/>
                  </a:cubicBezTo>
                  <a:lnTo>
                    <a:pt x="4022174" y="208158"/>
                  </a:lnTo>
                  <a:cubicBezTo>
                    <a:pt x="4022174" y="211542"/>
                    <a:pt x="4019019" y="214342"/>
                    <a:pt x="4015207" y="214342"/>
                  </a:cubicBezTo>
                  <a:lnTo>
                    <a:pt x="6967" y="214342"/>
                  </a:lnTo>
                  <a:cubicBezTo>
                    <a:pt x="3155" y="214342"/>
                    <a:pt x="0" y="211542"/>
                    <a:pt x="0" y="208158"/>
                  </a:cubicBezTo>
                  <a:lnTo>
                    <a:pt x="0" y="6184"/>
                  </a:lnTo>
                  <a:cubicBezTo>
                    <a:pt x="0" y="2800"/>
                    <a:pt x="3155" y="0"/>
                    <a:pt x="6967" y="0"/>
                  </a:cubicBezTo>
                  <a:moveTo>
                    <a:pt x="6967" y="12485"/>
                  </a:moveTo>
                  <a:lnTo>
                    <a:pt x="6967" y="6184"/>
                  </a:lnTo>
                  <a:lnTo>
                    <a:pt x="13934" y="6184"/>
                  </a:lnTo>
                  <a:lnTo>
                    <a:pt x="13934" y="208158"/>
                  </a:lnTo>
                  <a:lnTo>
                    <a:pt x="6967" y="208158"/>
                  </a:lnTo>
                  <a:lnTo>
                    <a:pt x="6967" y="201974"/>
                  </a:lnTo>
                  <a:lnTo>
                    <a:pt x="4015207" y="201974"/>
                  </a:lnTo>
                  <a:lnTo>
                    <a:pt x="4015207" y="208158"/>
                  </a:lnTo>
                  <a:lnTo>
                    <a:pt x="4008240" y="208158"/>
                  </a:lnTo>
                  <a:lnTo>
                    <a:pt x="4008240" y="6184"/>
                  </a:lnTo>
                  <a:lnTo>
                    <a:pt x="4015207" y="6184"/>
                  </a:lnTo>
                  <a:lnTo>
                    <a:pt x="4015207" y="12368"/>
                  </a:lnTo>
                  <a:lnTo>
                    <a:pt x="6967" y="123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7579519" y="4797114"/>
            <a:ext cx="294998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Strongest and most reliable result is semantic clustering boundary cost (H1).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Domain differences and confidence-linked effects were not statistically reliable.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Sample size and confidence ceiling can suppress detectable associations.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Semantic organisation appears clearer than phonetic organisation here.</a:t>
            </a:r>
          </a:p>
          <a:p>
            <a:pPr algn="l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conclusion</a:t>
            </a: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Hindi lexical retrieval is semantically structured, but most secondary hypotheses remain unsupported in this dataset.</a:t>
            </a:r>
          </a:p>
        </p:txBody>
      </p:sp>
      <p:graphicFrame>
        <p:nvGraphicFramePr>
          <p:cNvPr name="Table 83" id="83"/>
          <p:cNvGraphicFramePr>
            <a:graphicFrameLocks noGrp="true"/>
          </p:cNvGraphicFramePr>
          <p:nvPr/>
        </p:nvGraphicFramePr>
        <p:xfrm>
          <a:off x="3241815" y="984037"/>
          <a:ext cx="4111285" cy="3207247"/>
        </p:xfrm>
        <a:graphic>
          <a:graphicData uri="http://schemas.openxmlformats.org/drawingml/2006/table">
            <a:tbl>
              <a:tblPr/>
              <a:tblGrid>
                <a:gridCol w="1205697"/>
                <a:gridCol w="689734"/>
                <a:gridCol w="852025"/>
                <a:gridCol w="547089"/>
                <a:gridCol w="816740"/>
              </a:tblGrid>
              <a:tr h="1657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Hypothesis (description)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used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Signif.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Interpretation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H1: Between-cluster IRT &gt; within-cluster IRT (semantic boundary cost)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Welch 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t=9.30, d=1.12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p&lt;0.001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Supported strong effect.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6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H2: Positive serial slowing (lexical exhaustion)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Mixed Effect Models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positive slope (0/4 domains)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p&gt;0.05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supported.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0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H3: Domain effect on total words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Kruskal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H=3.264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p=0.196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domain difference.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0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H4: Domain effect on IRT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Kruskal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H=3.903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p=0.142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domain difference.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H5: Confidence positively linked to total words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Spearman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rho=-0.395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p(one)=0.991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Opposite direction.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H6: Confidence negatively linked to mean IRT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Spearman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rho=+0.276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p(one)=0.945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Opposite direction.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H7: Confidence positively linked to cluster size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Spearman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rho=-0.226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p(one)=0.897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Opposite direction.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H8: SpAM compactness differs by domain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Kruskal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H=3.445 (all), H=3.315 (excl. colours)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p=0.328/0.191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supported.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H9: Semantic ARI above chance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 + Perm.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68/86 positive; mean ARI=0.1765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sign&lt;0.001, perm=0.502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Mixed/inconclusive.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H10: Phonetic ARI above chance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 + Perm.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52/86 positive; mean ARI=0.0745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sign=0.066, perm=0.503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supported.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H11: Phon-over-sem similarity increases with position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Mixed 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beta=+0.003127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p=0.0905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supported.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H12: Higher phonological similarity -&gt; higher productivity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Spearman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rho=+0.114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p(one)=0.257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supported.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H13: Integrated vs VFT-only correlation differs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Steiger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z=0.000; rho=-0.461 both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p=1.000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03"/>
                        </a:lnSpc>
                        <a:defRPr/>
                      </a:pPr>
                      <a:r>
                        <a:rPr lang="en-US" sz="66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difference.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4" id="84"/>
          <p:cNvGrpSpPr/>
          <p:nvPr/>
        </p:nvGrpSpPr>
        <p:grpSpPr>
          <a:xfrm rot="0">
            <a:off x="7520673" y="6273807"/>
            <a:ext cx="3016660" cy="170158"/>
            <a:chOff x="0" y="0"/>
            <a:chExt cx="4022213" cy="22687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4759" y="6544"/>
              <a:ext cx="4012641" cy="213739"/>
            </a:xfrm>
            <a:custGeom>
              <a:avLst/>
              <a:gdLst/>
              <a:ahLst/>
              <a:cxnLst/>
              <a:rect r="r" b="b" t="t" l="l"/>
              <a:pathLst>
                <a:path h="213739" w="4012641">
                  <a:moveTo>
                    <a:pt x="0" y="0"/>
                  </a:moveTo>
                  <a:lnTo>
                    <a:pt x="4012641" y="0"/>
                  </a:lnTo>
                  <a:lnTo>
                    <a:pt x="4012641" y="213739"/>
                  </a:lnTo>
                  <a:lnTo>
                    <a:pt x="0" y="2137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022160" cy="226827"/>
            </a:xfrm>
            <a:custGeom>
              <a:avLst/>
              <a:gdLst/>
              <a:ahLst/>
              <a:cxnLst/>
              <a:rect r="r" b="b" t="t" l="l"/>
              <a:pathLst>
                <a:path h="226827" w="4022160">
                  <a:moveTo>
                    <a:pt x="4759" y="0"/>
                  </a:moveTo>
                  <a:lnTo>
                    <a:pt x="4017400" y="0"/>
                  </a:lnTo>
                  <a:cubicBezTo>
                    <a:pt x="4020004" y="0"/>
                    <a:pt x="4022160" y="2963"/>
                    <a:pt x="4022160" y="6544"/>
                  </a:cubicBezTo>
                  <a:lnTo>
                    <a:pt x="4022160" y="220283"/>
                  </a:lnTo>
                  <a:cubicBezTo>
                    <a:pt x="4022160" y="223864"/>
                    <a:pt x="4020004" y="226827"/>
                    <a:pt x="4017400" y="226827"/>
                  </a:cubicBezTo>
                  <a:lnTo>
                    <a:pt x="4759" y="226827"/>
                  </a:lnTo>
                  <a:cubicBezTo>
                    <a:pt x="2155" y="226827"/>
                    <a:pt x="0" y="223864"/>
                    <a:pt x="0" y="220283"/>
                  </a:cubicBezTo>
                  <a:lnTo>
                    <a:pt x="0" y="6544"/>
                  </a:lnTo>
                  <a:cubicBezTo>
                    <a:pt x="0" y="2963"/>
                    <a:pt x="2155" y="0"/>
                    <a:pt x="4759" y="0"/>
                  </a:cubicBezTo>
                  <a:moveTo>
                    <a:pt x="4759" y="13212"/>
                  </a:moveTo>
                  <a:lnTo>
                    <a:pt x="4759" y="6544"/>
                  </a:lnTo>
                  <a:lnTo>
                    <a:pt x="9518" y="6544"/>
                  </a:lnTo>
                  <a:lnTo>
                    <a:pt x="9518" y="220283"/>
                  </a:lnTo>
                  <a:lnTo>
                    <a:pt x="4759" y="220283"/>
                  </a:lnTo>
                  <a:lnTo>
                    <a:pt x="4759" y="213739"/>
                  </a:lnTo>
                  <a:lnTo>
                    <a:pt x="4017400" y="213739"/>
                  </a:lnTo>
                  <a:lnTo>
                    <a:pt x="4017400" y="220283"/>
                  </a:lnTo>
                  <a:lnTo>
                    <a:pt x="4012641" y="220283"/>
                  </a:lnTo>
                  <a:lnTo>
                    <a:pt x="4012641" y="6544"/>
                  </a:lnTo>
                  <a:lnTo>
                    <a:pt x="4017400" y="6544"/>
                  </a:lnTo>
                  <a:lnTo>
                    <a:pt x="4017400" y="13089"/>
                  </a:lnTo>
                  <a:lnTo>
                    <a:pt x="4759" y="1308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213328" y="74228"/>
            <a:ext cx="2349215" cy="571777"/>
            <a:chOff x="0" y="0"/>
            <a:chExt cx="841906" cy="204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41906" cy="204912"/>
            </a:xfrm>
            <a:custGeom>
              <a:avLst/>
              <a:gdLst/>
              <a:ahLst/>
              <a:cxnLst/>
              <a:rect r="r" b="b" t="t" l="l"/>
              <a:pathLst>
                <a:path h="204912" w="841906">
                  <a:moveTo>
                    <a:pt x="0" y="0"/>
                  </a:moveTo>
                  <a:lnTo>
                    <a:pt x="841906" y="0"/>
                  </a:lnTo>
                  <a:lnTo>
                    <a:pt x="841906" y="204912"/>
                  </a:lnTo>
                  <a:lnTo>
                    <a:pt x="0" y="2049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841906" cy="214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3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218589" y="73666"/>
            <a:ext cx="616337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Hindi Verbal Fluency: VFT + SpAM Mental Lexicon Analysis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18589" y="435616"/>
            <a:ext cx="659675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1161">
                <a:solidFill>
                  <a:srgbClr val="D6E4F7"/>
                </a:solidFill>
                <a:latin typeface="Calibri (MS)"/>
                <a:ea typeface="Calibri (MS)"/>
                <a:cs typeface="Calibri (MS)"/>
                <a:sym typeface="Calibri (MS)"/>
              </a:rPr>
              <a:t>Team CTRL+ALT+DEL | Akshat Kotadia (2025201005) | Ankit Chavda (2025201045) | Om Mehra (2025201008)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18589" y="803062"/>
            <a:ext cx="1264987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 + DATASET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93410" y="957694"/>
            <a:ext cx="288082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35 Hindi-English bilingual participants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VFT: 60-sec word generation in animals, foods, colours, body-parts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SpAM: participants arranged words by similarity in 2D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Analysis subset: 723 Hindi/Hinglish responses out of 1040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Colours coverage low (n=4), used mainly for descriptive reading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26419" y="2873480"/>
            <a:ext cx="1540272" cy="1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b="true" sz="86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QUESTIONS (RQ1-RQ7)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59753" y="3044514"/>
            <a:ext cx="2852052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RQ1: Do semantic categories differ in productivity (words) or retrieval speed (IRT)? - H1, H2, H3, H4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RQ2: Do participant-level factors (Hindi confidence, clustering) predict fluency? - H5, H6, H7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RQ3: Does SpAM compactness differ across domains? - H8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RQ4: Does participant spatial structure align with semantic or phonetic models? - H9, H10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RQ5: Does an integrated VFT+SpAM score outperform VFT-only? - H13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RQ6: Does phonological-over-semantic similarity increase over retrieval order? - H11</a:t>
            </a:r>
          </a:p>
          <a:p>
            <a:pPr algn="l" marL="194310" indent="-97155" lvl="1">
              <a:lnSpc>
                <a:spcPts val="1080"/>
              </a:lnSpc>
              <a:buFont typeface="Arial"/>
              <a:buChar char="•"/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RQ7: Does phonological similarity predict lexical productivity? - H12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26419" y="5019842"/>
            <a:ext cx="1665477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+ TRANSFORMERS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30667" y="5219867"/>
            <a:ext cx="278113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1) Merge VFT + SpAM + survey; keep Hindi/Hinglish rows.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2) Compute total words, IRT, cluster metrics, and compactness.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3) Normality checks (Shapiro), then robust/non-parametric tests.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4) H1 Welch t; H2 mixed models; H3/H4/H8 Kruskal; H5-H7/H12 Spearman.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5) H9/H10: sign + permutation tests; H13: Steiger test.</a:t>
            </a:r>
          </a:p>
          <a:p>
            <a:pPr algn="l">
              <a:lnSpc>
                <a:spcPts val="1141"/>
              </a:lnSpc>
            </a:pP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Model/preprocessing updates: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Semantic model: google/muril-base-cased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Devanagari kept in native script (no Devanagari-to-Latin conversion)</a:t>
            </a:r>
          </a:p>
          <a:p>
            <a:pPr algn="l">
              <a:lnSpc>
                <a:spcPts val="1141"/>
              </a:lnSpc>
            </a:pPr>
            <a:r>
              <a:rPr lang="en-US" sz="9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Clustering/alignment via KMeans/Agglomerative/HDBSCAN + ARI/NMI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230347" y="803062"/>
            <a:ext cx="1791605" cy="1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b="true" sz="860">
                <a:solidFill>
                  <a:srgbClr val="F6F9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HYPOTHESES TABLE (H1-H13)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7570595" y="6990217"/>
            <a:ext cx="1214029" cy="1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b="true" sz="86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549549" y="7144593"/>
            <a:ext cx="2942155" cy="33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[1] </a:t>
            </a: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Kumar et al. (2022) - Phonology in semantic memory retrieval </a:t>
            </a:r>
          </a:p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[2] Dautriche et al. (2016) - Wordform &amp; semantic similarity </a:t>
            </a:r>
          </a:p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[3] Hout et al. (2013) - Spatial Arrangement Method  for semantic similarity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230347" y="4368489"/>
            <a:ext cx="1281861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H1 - FIGURE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241815" y="5619750"/>
            <a:ext cx="4111285" cy="1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"/>
              </a:lnSpc>
            </a:pPr>
            <a:r>
              <a:rPr lang="en-US" sz="771">
                <a:solidFill>
                  <a:srgbClr val="4E5C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Interpretation: between-cluster pause is clearly higher than within-cluster pause.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230347" y="5830576"/>
            <a:ext cx="147179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H9/H10 - FIGURE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230347" y="7126588"/>
            <a:ext cx="4111285" cy="1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"/>
              </a:lnSpc>
            </a:pPr>
            <a:r>
              <a:rPr lang="en-US" sz="771">
                <a:solidFill>
                  <a:srgbClr val="4E5C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Interpretation: semantic ARI tends to be above phonetic ARI, but effect is modest.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579519" y="803062"/>
            <a:ext cx="168464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SEMANTIC VS PHONETIC SUMMARY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87348" y="995734"/>
            <a:ext cx="29499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"/>
              </a:lnSpc>
            </a:pPr>
            <a:r>
              <a:rPr lang="en-US" sz="8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Semantic similarity: weak-to-moderate structure present(H9 mixed).</a:t>
            </a:r>
          </a:p>
          <a:p>
            <a:pPr algn="l">
              <a:lnSpc>
                <a:spcPts val="997"/>
              </a:lnSpc>
            </a:pPr>
            <a:r>
              <a:rPr lang="en-US" sz="8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Phonetic similarity: no clear confirmatory support (H10/H12 not supported).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7579519" y="1457756"/>
            <a:ext cx="824905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H11/H12 - FIGURE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7579519" y="2762779"/>
            <a:ext cx="29499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"/>
              </a:lnSpc>
            </a:pPr>
            <a:r>
              <a:rPr lang="en-US" sz="771">
                <a:solidFill>
                  <a:srgbClr val="4E5C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Interpretation: no reliable phonological facilitation trend over retrieval order.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7579519" y="3105679"/>
            <a:ext cx="598091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H13 - FIGURE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579519" y="4282583"/>
            <a:ext cx="29499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"/>
              </a:lnSpc>
            </a:pPr>
            <a:r>
              <a:rPr lang="en-US" sz="771">
                <a:solidFill>
                  <a:srgbClr val="4E5C6C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Interpretation: integrated score does not show significant gain over VFT-only score.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579519" y="4633874"/>
            <a:ext cx="1267619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86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DISCUSSION + CONCLUSION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7570595" y="6297491"/>
            <a:ext cx="1214029" cy="1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86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549549" y="6424914"/>
            <a:ext cx="2958909" cy="43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Dataset is too small, even in that, so many English words, which resulted in more lesser data.</a:t>
            </a:r>
          </a:p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Small and uneven sample across domains (especially colours) limits statistical power and generalizability.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59744" y="1986394"/>
            <a:ext cx="2918736" cy="804960"/>
            <a:chOff x="0" y="0"/>
            <a:chExt cx="3891648" cy="10732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4605" y="8949"/>
              <a:ext cx="3882387" cy="1055364"/>
            </a:xfrm>
            <a:custGeom>
              <a:avLst/>
              <a:gdLst/>
              <a:ahLst/>
              <a:cxnLst/>
              <a:rect r="r" b="b" t="t" l="l"/>
              <a:pathLst>
                <a:path h="1055364" w="3882387">
                  <a:moveTo>
                    <a:pt x="0" y="0"/>
                  </a:moveTo>
                  <a:lnTo>
                    <a:pt x="3882386" y="0"/>
                  </a:lnTo>
                  <a:lnTo>
                    <a:pt x="3882386" y="1055365"/>
                  </a:lnTo>
                  <a:lnTo>
                    <a:pt x="0" y="10553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891596" cy="1073263"/>
            </a:xfrm>
            <a:custGeom>
              <a:avLst/>
              <a:gdLst/>
              <a:ahLst/>
              <a:cxnLst/>
              <a:rect r="r" b="b" t="t" l="l"/>
              <a:pathLst>
                <a:path h="1073263" w="3891596">
                  <a:moveTo>
                    <a:pt x="4605" y="0"/>
                  </a:moveTo>
                  <a:lnTo>
                    <a:pt x="3886991" y="0"/>
                  </a:lnTo>
                  <a:cubicBezTo>
                    <a:pt x="3889511" y="0"/>
                    <a:pt x="3891596" y="4053"/>
                    <a:pt x="3891596" y="8949"/>
                  </a:cubicBezTo>
                  <a:lnTo>
                    <a:pt x="3891596" y="1064314"/>
                  </a:lnTo>
                  <a:cubicBezTo>
                    <a:pt x="3891596" y="1069211"/>
                    <a:pt x="3889511" y="1073263"/>
                    <a:pt x="3886991" y="1073263"/>
                  </a:cubicBezTo>
                  <a:lnTo>
                    <a:pt x="4605" y="1073263"/>
                  </a:lnTo>
                  <a:cubicBezTo>
                    <a:pt x="2085" y="1073263"/>
                    <a:pt x="0" y="1069211"/>
                    <a:pt x="0" y="1064314"/>
                  </a:cubicBezTo>
                  <a:lnTo>
                    <a:pt x="0" y="8949"/>
                  </a:lnTo>
                  <a:cubicBezTo>
                    <a:pt x="0" y="4053"/>
                    <a:pt x="2085" y="0"/>
                    <a:pt x="4605" y="0"/>
                  </a:cubicBezTo>
                  <a:moveTo>
                    <a:pt x="4605" y="18068"/>
                  </a:moveTo>
                  <a:lnTo>
                    <a:pt x="4605" y="8949"/>
                  </a:lnTo>
                  <a:lnTo>
                    <a:pt x="9209" y="8949"/>
                  </a:lnTo>
                  <a:lnTo>
                    <a:pt x="9209" y="1064314"/>
                  </a:lnTo>
                  <a:lnTo>
                    <a:pt x="4605" y="1064314"/>
                  </a:lnTo>
                  <a:lnTo>
                    <a:pt x="4605" y="1055364"/>
                  </a:lnTo>
                  <a:lnTo>
                    <a:pt x="3886991" y="1055364"/>
                  </a:lnTo>
                  <a:lnTo>
                    <a:pt x="3886991" y="1064314"/>
                  </a:lnTo>
                  <a:lnTo>
                    <a:pt x="3882387" y="1064314"/>
                  </a:lnTo>
                  <a:lnTo>
                    <a:pt x="3882387" y="8949"/>
                  </a:lnTo>
                  <a:lnTo>
                    <a:pt x="3886991" y="8949"/>
                  </a:lnTo>
                  <a:lnTo>
                    <a:pt x="3886991" y="17899"/>
                  </a:lnTo>
                  <a:lnTo>
                    <a:pt x="4605" y="17899"/>
                  </a:lnTo>
                  <a:close/>
                </a:path>
              </a:pathLst>
            </a:custGeom>
            <a:solidFill>
              <a:srgbClr val="BCC8D6"/>
            </a:solidFill>
          </p:spPr>
        </p:sp>
      </p:grpSp>
      <p:sp>
        <p:nvSpPr>
          <p:cNvPr name="TextBox 117" id="117"/>
          <p:cNvSpPr txBox="true"/>
          <p:nvPr/>
        </p:nvSpPr>
        <p:spPr>
          <a:xfrm rot="0">
            <a:off x="8182865" y="112466"/>
            <a:ext cx="235446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9"/>
              </a:lnSpc>
              <a:spcBef>
                <a:spcPct val="0"/>
              </a:spcBef>
            </a:pPr>
            <a:r>
              <a:rPr lang="en-US" b="true" sz="148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BRSM PROJECT POSTER PRESENTATION</a:t>
            </a:r>
            <a:r>
              <a:rPr lang="en-US" b="true" sz="148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SP 2026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159753" y="1986394"/>
            <a:ext cx="2914479" cy="173479"/>
            <a:chOff x="0" y="0"/>
            <a:chExt cx="3885971" cy="23130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4598" y="6672"/>
              <a:ext cx="3876724" cy="217911"/>
            </a:xfrm>
            <a:custGeom>
              <a:avLst/>
              <a:gdLst/>
              <a:ahLst/>
              <a:cxnLst/>
              <a:rect r="r" b="b" t="t" l="l"/>
              <a:pathLst>
                <a:path h="217911" w="3876724">
                  <a:moveTo>
                    <a:pt x="0" y="0"/>
                  </a:moveTo>
                  <a:lnTo>
                    <a:pt x="3876724" y="0"/>
                  </a:lnTo>
                  <a:lnTo>
                    <a:pt x="3876724" y="217911"/>
                  </a:lnTo>
                  <a:lnTo>
                    <a:pt x="0" y="2179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885919" cy="231255"/>
            </a:xfrm>
            <a:custGeom>
              <a:avLst/>
              <a:gdLst/>
              <a:ahLst/>
              <a:cxnLst/>
              <a:rect r="r" b="b" t="t" l="l"/>
              <a:pathLst>
                <a:path h="231255" w="3885919">
                  <a:moveTo>
                    <a:pt x="4598" y="0"/>
                  </a:moveTo>
                  <a:lnTo>
                    <a:pt x="3881322" y="0"/>
                  </a:lnTo>
                  <a:cubicBezTo>
                    <a:pt x="3883837" y="0"/>
                    <a:pt x="3885919" y="3021"/>
                    <a:pt x="3885919" y="6672"/>
                  </a:cubicBezTo>
                  <a:lnTo>
                    <a:pt x="3885919" y="224583"/>
                  </a:lnTo>
                  <a:cubicBezTo>
                    <a:pt x="3885919" y="228233"/>
                    <a:pt x="3883837" y="231255"/>
                    <a:pt x="3881322" y="231255"/>
                  </a:cubicBezTo>
                  <a:lnTo>
                    <a:pt x="4598" y="231255"/>
                  </a:lnTo>
                  <a:cubicBezTo>
                    <a:pt x="2082" y="231255"/>
                    <a:pt x="0" y="228233"/>
                    <a:pt x="0" y="224583"/>
                  </a:cubicBezTo>
                  <a:lnTo>
                    <a:pt x="0" y="6672"/>
                  </a:lnTo>
                  <a:cubicBezTo>
                    <a:pt x="0" y="3021"/>
                    <a:pt x="2082" y="0"/>
                    <a:pt x="4598" y="0"/>
                  </a:cubicBezTo>
                  <a:moveTo>
                    <a:pt x="4598" y="13470"/>
                  </a:moveTo>
                  <a:lnTo>
                    <a:pt x="4598" y="6672"/>
                  </a:lnTo>
                  <a:lnTo>
                    <a:pt x="9196" y="6672"/>
                  </a:lnTo>
                  <a:lnTo>
                    <a:pt x="9196" y="224583"/>
                  </a:lnTo>
                  <a:lnTo>
                    <a:pt x="4598" y="224583"/>
                  </a:lnTo>
                  <a:lnTo>
                    <a:pt x="4598" y="217911"/>
                  </a:lnTo>
                  <a:lnTo>
                    <a:pt x="3881322" y="217911"/>
                  </a:lnTo>
                  <a:lnTo>
                    <a:pt x="3881322" y="224583"/>
                  </a:lnTo>
                  <a:lnTo>
                    <a:pt x="3876723" y="224583"/>
                  </a:lnTo>
                  <a:lnTo>
                    <a:pt x="3876723" y="6672"/>
                  </a:lnTo>
                  <a:lnTo>
                    <a:pt x="3881322" y="6672"/>
                  </a:lnTo>
                  <a:lnTo>
                    <a:pt x="3881322" y="13344"/>
                  </a:lnTo>
                  <a:lnTo>
                    <a:pt x="4598" y="1334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218589" y="2013399"/>
            <a:ext cx="602892" cy="1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86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 WORK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93410" y="2148950"/>
            <a:ext cx="2863998" cy="6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</a:t>
            </a: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honological similarity influences semantic memory retrieval showing that sound structure can bias access to meaning [1].</a:t>
            </a:r>
          </a:p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Words that are phonologically similar tend to also be semantically related more than expected by chance [2].</a:t>
            </a:r>
          </a:p>
          <a:p>
            <a:pPr algn="l">
              <a:lnSpc>
                <a:spcPts val="841"/>
              </a:lnSpc>
            </a:pPr>
            <a:r>
              <a:rPr lang="en-US" sz="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Spatial Arrangement Method efficiently captures human semantic similarity judgements by arranging items based on perceived relatedness [3].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DAHHabc2g-M</dc:identifier>
  <dcterms:modified xsi:type="dcterms:W3CDTF">2011-08-01T06:04:30Z</dcterms:modified>
  <cp:revision>1</cp:revision>
  <dc:title>Hindi_Fluency_Poster_Clean.pptx</dc:title>
</cp:coreProperties>
</file>