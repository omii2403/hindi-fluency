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529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52944"/>
          </a:xfrm>
          <a:prstGeom prst="rect">
            <a:avLst/>
          </a:prstGeom>
          <a:solidFill>
            <a:srgbClr val="F6F9FC"/>
          </a:solidFill>
          <a:ln w="1016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658368"/>
          </a:xfrm>
          <a:prstGeom prst="rect">
            <a:avLst/>
          </a:prstGeom>
          <a:solidFill>
            <a:srgbClr val="0D1B2A"/>
          </a:solidFill>
          <a:ln w="1016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2743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223760"/>
            <a:ext cx="10689336" cy="329184"/>
          </a:xfrm>
          <a:prstGeom prst="rect">
            <a:avLst/>
          </a:prstGeom>
          <a:solidFill>
            <a:srgbClr val="0D1B2A"/>
          </a:solidFill>
          <a:ln w="1016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689336" cy="2743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225" y="54864"/>
            <a:ext cx="594070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Hindi Verbal Fluency: VFT + SpAM Mental Lexicon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225" y="310896"/>
            <a:ext cx="687870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960" b="0">
                <a:solidFill>
                  <a:srgbClr val="D6E4F7"/>
                </a:solidFill>
                <a:latin typeface="Calibri"/>
              </a:rPr>
              <a:t>Team CTRL+ALT+DEL | Akshat Kotadia (2025201005) | Ankit Chavda (2025201045) | Om Mehra (2025201008)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1680" y="91440"/>
            <a:ext cx="1915094" cy="38404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>
              <a:spcAft>
                <a:spcPts val="50"/>
              </a:spcAft>
            </a:pPr>
            <a:r>
              <a:rPr sz="1100" b="1">
                <a:solidFill>
                  <a:srgbClr val="DCECFF"/>
                </a:solidFill>
                <a:latin typeface="Calibri"/>
              </a:rPr>
              <a:t>BRSM 2026 Poster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225" y="7287768"/>
            <a:ext cx="875471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>
              <a:spcAft>
                <a:spcPts val="50"/>
              </a:spcAft>
            </a:pPr>
            <a:r>
              <a:rPr sz="800" b="0">
                <a:solidFill>
                  <a:srgbClr val="DCECFF"/>
                </a:solidFill>
                <a:latin typeface="Calibri"/>
              </a:rPr>
              <a:t>VFT=Verbal Fluency Task | SpAM=Spatial Arrangement Method | IRT=Inter-Response Time | Semantic + Phonetic Similarity Both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" y="786384"/>
            <a:ext cx="2900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" y="786384"/>
            <a:ext cx="290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224" y="795528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INTRODUCTION +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042" y="978408"/>
            <a:ext cx="2853099" cy="8778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90" b="0">
                <a:solidFill>
                  <a:srgbClr val="1E242C"/>
                </a:solidFill>
                <a:latin typeface="Calibri"/>
              </a:rPr>
              <a:t>- 35 Hindi-English bilingual participants</a:t>
            </a:r>
          </a:p>
          <a:p>
            <a:pPr algn="l">
              <a:spcAft>
                <a:spcPts val="50"/>
              </a:spcAft>
            </a:pPr>
            <a:r>
              <a:rPr sz="890" b="0">
                <a:solidFill>
                  <a:srgbClr val="1E242C"/>
                </a:solidFill>
                <a:latin typeface="Calibri"/>
              </a:rPr>
              <a:t>- VFT: 60-sec word generation in animals/foods/colours/body-parts</a:t>
            </a:r>
          </a:p>
          <a:p>
            <a:pPr algn="l">
              <a:spcAft>
                <a:spcPts val="50"/>
              </a:spcAft>
            </a:pPr>
            <a:r>
              <a:rPr sz="890" b="0">
                <a:solidFill>
                  <a:srgbClr val="1E242C"/>
                </a:solidFill>
                <a:latin typeface="Calibri"/>
              </a:rPr>
              <a:t>- SpAM: participants arranged words by similarity in 2D</a:t>
            </a:r>
          </a:p>
          <a:p>
            <a:pPr algn="l">
              <a:spcAft>
                <a:spcPts val="50"/>
              </a:spcAft>
            </a:pPr>
            <a:r>
              <a:rPr sz="890" b="0">
                <a:solidFill>
                  <a:srgbClr val="1E242C"/>
                </a:solidFill>
                <a:latin typeface="Calibri"/>
              </a:rPr>
              <a:t>- Analysis subset: 723 Hindi/Hinglish responses</a:t>
            </a:r>
          </a:p>
          <a:p>
            <a:pPr algn="l">
              <a:spcAft>
                <a:spcPts val="50"/>
              </a:spcAft>
            </a:pPr>
            <a:r>
              <a:rPr sz="890" b="0">
                <a:solidFill>
                  <a:srgbClr val="1E242C"/>
                </a:solidFill>
                <a:latin typeface="Calibri"/>
              </a:rPr>
              <a:t>- Colours coverage low (n=4), used mainly for descriptive reading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" y="1956816"/>
            <a:ext cx="290000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1956816"/>
            <a:ext cx="2900000" cy="16459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224" y="1965960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t>RESEARCH QUESTIONS (RQ1-RQ7)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42" y="2148840"/>
            <a:ext cx="2853099" cy="1042415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1100"/>
              <a:t>RQ1: Do semantic categories differ in productivity (words) or retrieval speed (IRT)?</a:t>
            </a:r>
            <a:br/>
            <a:r>
              <a:rPr sz="1100"/>
              <a:t>RQ2: Do participant-level factors (Hindi confidence, clustering) predict fluency?</a:t>
            </a:r>
            <a:br/>
            <a:r>
              <a:rPr sz="1100"/>
              <a:t>RQ3: Does SpAM compactness differ across domains?</a:t>
            </a:r>
            <a:br/>
            <a:r>
              <a:rPr sz="1100"/>
              <a:t>RQ4: Does participant spatial structure align with semantic or phonetic models?</a:t>
            </a:r>
            <a:br/>
            <a:r>
              <a:rPr sz="1100"/>
              <a:t>RQ5: Does an integrated VFT+SpAM score outperform VFT-only?</a:t>
            </a:r>
            <a:br/>
            <a:r>
              <a:rPr sz="1100"/>
              <a:t>RQ6: Does phonological-over-semantic similarity increase over retrieval order?</a:t>
            </a:r>
            <a:br/>
            <a:r>
              <a:rPr sz="1100"/>
              <a:t>RQ7: Does phonological similarity predict lexical productivity?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" y="4636008"/>
            <a:ext cx="29000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4636008"/>
            <a:ext cx="290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224" y="4645152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METHODOLOGY +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042" y="4828032"/>
            <a:ext cx="2853099" cy="2112263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950"/>
              <a:t>1) Merge VFT + SpAM + survey; keep Hindi/Hinglish rows.</a:t>
            </a:r>
          </a:p>
          <a:p>
            <a:r>
              <a:rPr sz="950"/>
              <a:t>2) Compute total words, IRT, cluster metrics, and compactness.</a:t>
            </a:r>
          </a:p>
          <a:p>
            <a:r>
              <a:rPr sz="950"/>
              <a:t>3) Normality checks (Shapiro), then robust/non-parametric tests.</a:t>
            </a:r>
          </a:p>
          <a:p>
            <a:r>
              <a:rPr sz="950"/>
              <a:t>4) H1 Welch t; H2 mixed models; H3/H4/H8 Kruskal; H5-H7/H12 Spearman.</a:t>
            </a:r>
          </a:p>
          <a:p>
            <a:r>
              <a:rPr sz="950"/>
              <a:t>5) H9/H10: sign + permutation tests; H13: Steiger test.</a:t>
            </a:r>
          </a:p>
          <a:p/>
          <a:p>
            <a:r>
              <a:rPr sz="950"/>
              <a:t>Model/preprocessing updates:</a:t>
            </a:r>
          </a:p>
          <a:p>
            <a:r>
              <a:rPr sz="950"/>
              <a:t>- Semantic model: google/muril-base-cased</a:t>
            </a:r>
          </a:p>
          <a:p>
            <a:r>
              <a:rPr sz="950"/>
              <a:t>- Devanagari kept in native script (no Devanagari-to-Latin conversion)</a:t>
            </a:r>
          </a:p>
          <a:p>
            <a:r>
              <a:rPr sz="950"/>
              <a:t>- Clustering/alignment via KMeans/Agglomerative/HDBSCAN + ARI/NMI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4592" y="786384"/>
            <a:ext cx="4250000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64592" y="786384"/>
            <a:ext cx="425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7503" y="795528"/>
            <a:ext cx="4204177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t>HYPOTHESES TABLE (H1-H13)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8958" y="978408"/>
            <a:ext cx="4181266" cy="1828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t>Notebook-derived (MuRIL rerun) values; concise interpretations included.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64592" y="3968496"/>
            <a:ext cx="42500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64592" y="3968496"/>
            <a:ext cx="4250000" cy="16459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7503" y="3977639"/>
            <a:ext cx="4204177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t>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8958" y="4160520"/>
            <a:ext cx="4181266" cy="3749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/>
              <a:t>1) Troyer, A.K., Moscovitch, M., Winocur, G. (1997). Clustering and switching as two components of verbal fluency.</a:t>
            </a:r>
          </a:p>
          <a:p>
            <a:r>
              <a:rPr sz="800"/>
              <a:t>2) Kumar et al. (2022). Phonological and semantic dynamics in verbal fluency retrieval.</a:t>
            </a:r>
          </a:p>
          <a:p>
            <a:r>
              <a:rPr sz="800"/>
              <a:t>3) Kruskal, W.H., Wallis, W.A. (1952). Use of ranks in one-criterion variance analysis.</a:t>
            </a:r>
          </a:p>
          <a:p>
            <a:r>
              <a:rPr sz="800"/>
              <a:t>4) Steiger, J.H. (1980). Tests for comparing dependent correlations.</a:t>
            </a:r>
          </a:p>
          <a:p>
            <a:r>
              <a:rPr sz="800"/>
              <a:t>5) Source artifacts: Hindi_fluency_final.ipynb; deep-research-report (1).md.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64592" y="4636008"/>
            <a:ext cx="4250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4592" y="4636008"/>
            <a:ext cx="425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7503" y="4645152"/>
            <a:ext cx="4204177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IMPORTANT FIGURE 1 (H1)</a:t>
            </a:r>
          </a:p>
        </p:txBody>
      </p:sp>
      <p:pic>
        <p:nvPicPr>
          <p:cNvPr id="35" name="Picture 34" descr="fig_moduleA_h1_clus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83" y="4828032"/>
            <a:ext cx="2073214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198958" y="5522976"/>
            <a:ext cx="4181266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770" b="0">
                <a:solidFill>
                  <a:srgbClr val="4E5C6C"/>
                </a:solidFill>
                <a:latin typeface="Calibri"/>
              </a:rPr>
              <a:t>Interpretation: between-cluster pause is clearly higher than within-cluster pause.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4592" y="5806440"/>
            <a:ext cx="4250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4592" y="5806440"/>
            <a:ext cx="4250000" cy="16459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87503" y="5815584"/>
            <a:ext cx="4204177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IMPORTANT FIGURE 2 (H9/H10)</a:t>
            </a:r>
          </a:p>
        </p:txBody>
      </p:sp>
      <p:pic>
        <p:nvPicPr>
          <p:cNvPr id="40" name="Picture 39" descr="fig_moduleD_h9_h10_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112" y="5998464"/>
            <a:ext cx="2054956" cy="685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198958" y="6693408"/>
            <a:ext cx="4181266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770" b="0">
                <a:solidFill>
                  <a:srgbClr val="4E5C6C"/>
                </a:solidFill>
                <a:latin typeface="Calibri"/>
              </a:rPr>
              <a:t>Interpretation: semantic ARI tends to be above phonetic ARI, but effect is modest.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14592" y="786384"/>
            <a:ext cx="29000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14592" y="786384"/>
            <a:ext cx="290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30225" y="795528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SEMANTIC VS PHONETIC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8042" y="978408"/>
            <a:ext cx="2853099" cy="7406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30" b="0">
                <a:solidFill>
                  <a:srgbClr val="1E242C"/>
                </a:solidFill>
                <a:latin typeface="Calibri"/>
              </a:rPr>
              <a:t>Semantic similarity: weak-to-moderate structure present (H9 mixed).</a:t>
            </a:r>
          </a:p>
          <a:p>
            <a:pPr algn="l">
              <a:spcAft>
                <a:spcPts val="50"/>
              </a:spcAft>
            </a:pPr>
            <a:r>
              <a:rPr sz="830" b="0">
                <a:solidFill>
                  <a:srgbClr val="1E242C"/>
                </a:solidFill>
                <a:latin typeface="Calibri"/>
              </a:rPr>
              <a:t>Phonetic similarity: no clear confirmatory support (H10/H12 not supported).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14592" y="1819656"/>
            <a:ext cx="29000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14592" y="1819656"/>
            <a:ext cx="2900000" cy="16459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30225" y="1828800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IMPORTANT FIGURE 3 (H11/H12)</a:t>
            </a:r>
          </a:p>
        </p:txBody>
      </p:sp>
      <p:pic>
        <p:nvPicPr>
          <p:cNvPr id="49" name="Picture 48" descr="graph_12_1_h11_dual_simila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196" y="2011680"/>
            <a:ext cx="1230788" cy="8412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538042" y="2880360"/>
            <a:ext cx="2853099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770" b="0">
                <a:solidFill>
                  <a:srgbClr val="4E5C6C"/>
                </a:solidFill>
                <a:latin typeface="Calibri"/>
              </a:rPr>
              <a:t>Interpretation: no reliable phonological facilitation trend over retrieval order.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14592" y="3218688"/>
            <a:ext cx="29000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14592" y="3218688"/>
            <a:ext cx="2900000" cy="164592"/>
          </a:xfrm>
          <a:prstGeom prst="rect">
            <a:avLst/>
          </a:prstGeom>
          <a:solidFill>
            <a:srgbClr val="1E4678"/>
          </a:solidFill>
          <a:ln w="10160">
            <a:solidFill>
              <a:srgbClr val="1E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30225" y="3227832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IMPORTANT FIGURE 4 (H13)</a:t>
            </a:r>
          </a:p>
        </p:txBody>
      </p:sp>
      <p:pic>
        <p:nvPicPr>
          <p:cNvPr id="54" name="Picture 53" descr="graph_13_1_composite_vs_vft_conf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324" y="3410712"/>
            <a:ext cx="1838533" cy="8412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538042" y="4279392"/>
            <a:ext cx="2853099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770" b="0">
                <a:solidFill>
                  <a:srgbClr val="4E5C6C"/>
                </a:solidFill>
                <a:latin typeface="Calibri"/>
              </a:rPr>
              <a:t>Interpretation: integrated score does not show significant gain over VFT-only score.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14592" y="4617720"/>
            <a:ext cx="29000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4592" y="4617720"/>
            <a:ext cx="2900000" cy="164592"/>
          </a:xfrm>
          <a:prstGeom prst="rect">
            <a:avLst/>
          </a:prstGeom>
          <a:solidFill>
            <a:srgbClr val="2A9D8F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0225" y="4626864"/>
            <a:ext cx="2868733" cy="14630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DISCUSSION + CONCLUSION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8042" y="4809744"/>
            <a:ext cx="2853099" cy="2066543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- Strongest and most reliable result is semantic clustering boundary cost (H1).</a:t>
            </a:r>
          </a:p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- Domain differences and confidence-linked effects were not statistically reliable.</a:t>
            </a:r>
          </a:p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- Sample size and confidence ceiling can suppress detectable associations.</a:t>
            </a:r>
          </a:p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- Semantic organisation appears clearer than phonetic organisation here.</a:t>
            </a:r>
          </a:p>
          <a:p>
            <a:pPr algn="l">
              <a:spcAft>
                <a:spcPts val="50"/>
              </a:spcAft>
            </a:pPr>
          </a:p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Final conclusion: Hindi lexical retrieval is semantically structured,</a:t>
            </a:r>
          </a:p>
          <a:p>
            <a:pPr algn="l">
              <a:spcAft>
                <a:spcPts val="50"/>
              </a:spcAft>
            </a:pPr>
            <a:r>
              <a:rPr sz="869" b="0">
                <a:solidFill>
                  <a:srgbClr val="1E242C"/>
                </a:solidFill>
                <a:latin typeface="Calibri"/>
              </a:rPr>
              <a:t>but most secondary hypotheses remain unsupported in this dataset.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3198958" y="1161288"/>
          <a:ext cx="4089619" cy="2670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886"/>
                <a:gridCol w="695235"/>
                <a:gridCol w="858820"/>
                <a:gridCol w="408962"/>
                <a:gridCol w="899716"/>
              </a:tblGrid>
              <a:tr h="190717">
                <a:tc>
                  <a:txBody>
                    <a:bodyPr wrap="square"/>
                    <a:lstStyle/>
                    <a:p>
                      <a:r>
                        <a:rPr sz="800"/>
                        <a:t>Hypothesis (description)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Test used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Result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Signif.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Interpretation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H1: Between-cluster IRT &gt; within-cluster IRT (semantic boundary cost)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Welch 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t=9.30, d=1.12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p&lt;0.001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Supported; strong effect.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H2: Positive serial slowing (lexical exhaustion)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Mixed LMEM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 positive slope (0/4 domains)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p&gt;0.05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Not supported.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H3: Domain effect on total words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Kruskal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H=3.264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p=0.196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 domain difference.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H4: Domain effect on IRT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Kruskal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H=3.903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p=0.142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 domain difference.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H5: Confidence positively linked to total words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Spearman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rho=-0.395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p(one)=0.991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Opposite direction.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H6: Confidence negatively linked to mean IRT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Spearman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rho=+0.276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p(one)=0.945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Opposite direction.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H7: Confidence positively linked to cluster size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Spearman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rho=-0.226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p(one)=0.897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Opposite direction.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H8: SpAM compactness differs by domain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Kruskal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H=3.445 (all), H=3.315 (excl. colours)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p=0.328/0.191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Not supported.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H9: Semantic ARI above chance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Sign + Perm.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68/86 positive; mean ARI=0.1765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sign&lt;0.001, perm=0.502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Mixed/inconclusive.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H10: Phonetic ARI above chance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Sign + Perm.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52/86 positive; mean ARI=0.0745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sign=0.066, perm=0.503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Not supported.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H11: Phon-over-sem similarity increases with position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Mixed 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beta=+0.003127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p=0.0905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Not supported.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H12: Higher phonological similarity -&gt; higher productivity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Spearman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rho=+0.114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p(one)=0.257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Not supported.</a:t>
                      </a:r>
                    </a:p>
                  </a:txBody>
                  <a:tcPr/>
                </a:tc>
              </a:tr>
              <a:tr h="190717">
                <a:tc>
                  <a:txBody>
                    <a:bodyPr wrap="square"/>
                    <a:lstStyle/>
                    <a:p>
                      <a:r>
                        <a:rPr sz="700"/>
                        <a:t>H13: Integrated vs VFT-only correlation differs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Steiger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z=0.000; rho=-0.461 both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p=1.000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700"/>
                        <a:t>No difference.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